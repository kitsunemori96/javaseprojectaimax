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16"/>
  </p:notesMasterIdLst>
  <p:handoutMasterIdLst>
    <p:handoutMasterId r:id="rId17"/>
  </p:handoutMasterIdLst>
  <p:sldIdLst>
    <p:sldId id="1105" r:id="rId6"/>
    <p:sldId id="2638" r:id="rId7"/>
    <p:sldId id="2035" r:id="rId8"/>
    <p:sldId id="2656" r:id="rId9"/>
    <p:sldId id="2601" r:id="rId10"/>
    <p:sldId id="2657" r:id="rId11"/>
    <p:sldId id="2651" r:id="rId12"/>
    <p:sldId id="2654" r:id="rId13"/>
    <p:sldId id="2655" r:id="rId14"/>
    <p:sldId id="288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9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5726" autoAdjust="0"/>
  </p:normalViewPr>
  <p:slideViewPr>
    <p:cSldViewPr snapToGrid="0" showGuides="1">
      <p:cViewPr varScale="1">
        <p:scale>
          <a:sx n="93" d="100"/>
          <a:sy n="93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01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02301938-FABB-48FF-83F6-FDDA4B1EE5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6019B1A4-4C63-4E5E-8FFB-6A2C97B6EC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BA30F6DC-440B-43C8-9137-4DF567606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4E40DA-EB1F-4087-B1E8-AE32CA7CF35A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69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853A3-0294-4B41-8132-840FB475F6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27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0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402898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2950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75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01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+mn-ea"/>
                  <a:ea typeface="+mn-ea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8567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+mn-ea"/>
                <a:ea typeface="+mn-ea"/>
                <a:cs typeface="苏新诗古印宋简" panose="02010609000101010101" pitchFamily="49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21686"/>
            <a:ext cx="928567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苏新诗古印宋简" panose="02010609000101010101" pitchFamily="49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9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0109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27813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7005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D29152AF-866D-4172-B3F7-41443DAD18EA}" type="datetimeFigureOut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238AAF56-7046-4D42-BA0B-D046FAD3E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32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8D91FFE-8D14-92DF-853D-BD4509B509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5052" y="2526861"/>
            <a:ext cx="879475" cy="786140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 Heavy"/>
                <a:ea typeface="阿里巴巴普惠体 Heavy"/>
                <a:cs typeface="+mn-cs"/>
              </a:rPr>
              <a:t>1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 Heavy"/>
              <a:ea typeface="阿里巴巴普惠体 Heavy"/>
              <a:cs typeface="+mn-cs"/>
            </a:endParaRP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2472352" y="239456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 dirty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8650" y="2113424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  <a:p>
            <a:pPr lvl="0"/>
            <a:r>
              <a:rPr lang="zh-CN" altLang="en-US" dirty="0"/>
              <a:t>目录样式</a:t>
            </a:r>
            <a:endParaRPr lang="en-US" altLang="zh-CN" dirty="0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2490825" y="3136611"/>
            <a:ext cx="1806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集合框架</a:t>
            </a: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79" r:id="rId7"/>
    <p:sldLayoutId id="2147483680" r:id="rId8"/>
    <p:sldLayoutId id="2147483690" r:id="rId9"/>
    <p:sldLayoutId id="2147483691" r:id="rId10"/>
    <p:sldLayoutId id="2147483692" r:id="rId11"/>
    <p:sldLayoutId id="2147483696" r:id="rId12"/>
    <p:sldLayoutId id="2147483697" r:id="rId13"/>
    <p:sldLayoutId id="2147483698" r:id="rId14"/>
    <p:sldLayoutId id="214748369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82949" y="3529662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417834" y="1463989"/>
            <a:ext cx="3930021" cy="3930021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540" y="2456906"/>
            <a:ext cx="4544060" cy="869023"/>
          </a:xfrm>
        </p:spPr>
        <p:txBody>
          <a:bodyPr>
            <a:normAutofit/>
          </a:bodyPr>
          <a:lstStyle/>
          <a:p>
            <a:r>
              <a:rPr kumimoji="1" lang="en-US" altLang="zh-CN" sz="3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JavaSE</a:t>
            </a:r>
            <a:r>
              <a:rPr kumimoji="1" lang="zh-CN" altLang="en-US" sz="3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Consolas" panose="020B0609020204030204" pitchFamily="49" charset="0"/>
              </a:rPr>
              <a:t>基础加强课程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75BAF2-ACAF-DBF8-18DF-9DCA44D32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6120" y="3525934"/>
            <a:ext cx="4111441" cy="563562"/>
          </a:xfrm>
        </p:spPr>
        <p:txBody>
          <a:bodyPr/>
          <a:lstStyle/>
          <a:p>
            <a:r>
              <a:rPr lang="en-US" altLang="zh-CN" sz="1800" dirty="0"/>
              <a:t>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2127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363447" y="2136102"/>
            <a:ext cx="1918965" cy="2391873"/>
            <a:chOff x="2285732" y="3716686"/>
            <a:chExt cx="2763946" cy="3446339"/>
          </a:xfrm>
        </p:grpSpPr>
        <p:grpSp>
          <p:nvGrpSpPr>
            <p:cNvPr id="14" name="组合 13"/>
            <p:cNvGrpSpPr/>
            <p:nvPr/>
          </p:nvGrpSpPr>
          <p:grpSpPr>
            <a:xfrm>
              <a:off x="2285732" y="3716686"/>
              <a:ext cx="2763946" cy="3446339"/>
              <a:chOff x="3295850" y="1908877"/>
              <a:chExt cx="3738030" cy="4660916"/>
            </a:xfrm>
          </p:grpSpPr>
          <p:sp>
            <p:nvSpPr>
              <p:cNvPr id="18" name="圆角矩形 17"/>
              <p:cNvSpPr/>
              <p:nvPr/>
            </p:nvSpPr>
            <p:spPr>
              <a:xfrm rot="2760000">
                <a:off x="3098889" y="2634801"/>
                <a:ext cx="4660916" cy="32090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 rot="2760000">
                <a:off x="3358628" y="2852802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728219" y="4347491"/>
              <a:ext cx="1068358" cy="962347"/>
              <a:chOff x="2711519" y="4342226"/>
              <a:chExt cx="1068358" cy="962347"/>
            </a:xfrm>
          </p:grpSpPr>
          <p:sp>
            <p:nvSpPr>
              <p:cNvPr id="16" name="文本框 26"/>
              <p:cNvSpPr txBox="1"/>
              <p:nvPr/>
            </p:nvSpPr>
            <p:spPr>
              <a:xfrm>
                <a:off x="271151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7" name="文本框 27"/>
              <p:cNvSpPr txBox="1"/>
              <p:nvPr/>
            </p:nvSpPr>
            <p:spPr>
              <a:xfrm>
                <a:off x="2738816" y="4957033"/>
                <a:ext cx="1041061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5500581" y="4129728"/>
            <a:ext cx="1912352" cy="2391873"/>
            <a:chOff x="3885937" y="2769115"/>
            <a:chExt cx="2754422" cy="3446339"/>
          </a:xfrm>
        </p:grpSpPr>
        <p:grpSp>
          <p:nvGrpSpPr>
            <p:cNvPr id="25" name="组合 24"/>
            <p:cNvGrpSpPr/>
            <p:nvPr/>
          </p:nvGrpSpPr>
          <p:grpSpPr>
            <a:xfrm>
              <a:off x="3885937" y="2769115"/>
              <a:ext cx="2754422" cy="3446339"/>
              <a:chOff x="3295850" y="1895995"/>
              <a:chExt cx="3725149" cy="4660916"/>
            </a:xfrm>
          </p:grpSpPr>
          <p:sp>
            <p:nvSpPr>
              <p:cNvPr id="29" name="圆角矩形 28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2760000">
                <a:off x="3384391" y="2878566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352303" y="3414855"/>
              <a:ext cx="1045498" cy="962350"/>
              <a:chOff x="2734379" y="4342226"/>
              <a:chExt cx="1045498" cy="962350"/>
            </a:xfrm>
          </p:grpSpPr>
          <p:sp>
            <p:nvSpPr>
              <p:cNvPr id="27" name="文本框 32"/>
              <p:cNvSpPr txBox="1"/>
              <p:nvPr/>
            </p:nvSpPr>
            <p:spPr>
              <a:xfrm>
                <a:off x="2734379" y="4342226"/>
                <a:ext cx="1031437" cy="776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03</a:t>
                </a:r>
                <a:endParaRPr lang="zh-CN" altLang="en-US" sz="32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8" name="文本框 33"/>
              <p:cNvSpPr txBox="1"/>
              <p:nvPr/>
            </p:nvSpPr>
            <p:spPr>
              <a:xfrm>
                <a:off x="2738817" y="4957036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STEP</a:t>
                </a:r>
                <a:endParaRPr lang="zh-CN" altLang="en-US" sz="11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706172" y="2185935"/>
            <a:ext cx="1912352" cy="2391873"/>
            <a:chOff x="5489223" y="1837839"/>
            <a:chExt cx="2754422" cy="3446339"/>
          </a:xfrm>
        </p:grpSpPr>
        <p:grpSp>
          <p:nvGrpSpPr>
            <p:cNvPr id="39" name="组合 38"/>
            <p:cNvGrpSpPr/>
            <p:nvPr/>
          </p:nvGrpSpPr>
          <p:grpSpPr>
            <a:xfrm>
              <a:off x="5489223" y="1837839"/>
              <a:ext cx="2754422" cy="3446339"/>
              <a:chOff x="3295850" y="1895995"/>
              <a:chExt cx="3725149" cy="4660916"/>
            </a:xfrm>
          </p:grpSpPr>
          <p:sp>
            <p:nvSpPr>
              <p:cNvPr id="43" name="圆角矩形 42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5937544" y="2483578"/>
              <a:ext cx="1045498" cy="962347"/>
              <a:chOff x="2734379" y="4342226"/>
              <a:chExt cx="1045498" cy="962347"/>
            </a:xfrm>
          </p:grpSpPr>
          <p:sp>
            <p:nvSpPr>
              <p:cNvPr id="41" name="文本框 35"/>
              <p:cNvSpPr txBox="1"/>
              <p:nvPr/>
            </p:nvSpPr>
            <p:spPr>
              <a:xfrm>
                <a:off x="273437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42" name="文本框 36"/>
              <p:cNvSpPr txBox="1"/>
              <p:nvPr/>
            </p:nvSpPr>
            <p:spPr>
              <a:xfrm>
                <a:off x="2738817" y="4957033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 flipV="1">
            <a:off x="7773175" y="1645240"/>
            <a:ext cx="2439004" cy="732306"/>
            <a:chOff x="5246304" y="4593021"/>
            <a:chExt cx="2438687" cy="732476"/>
          </a:xfrm>
        </p:grpSpPr>
        <p:sp>
          <p:nvSpPr>
            <p:cNvPr id="58" name="椭圆 57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 flipH="1" flipV="1">
            <a:off x="2264483" y="1642539"/>
            <a:ext cx="2439004" cy="732306"/>
            <a:chOff x="5246304" y="4593021"/>
            <a:chExt cx="2438687" cy="732476"/>
          </a:xfrm>
        </p:grpSpPr>
        <p:sp>
          <p:nvSpPr>
            <p:cNvPr id="61" name="椭圆 60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 flipH="1">
            <a:off x="3066863" y="4825063"/>
            <a:ext cx="2439004" cy="732306"/>
            <a:chOff x="5246304" y="4593021"/>
            <a:chExt cx="2438687" cy="732476"/>
          </a:xfrm>
        </p:grpSpPr>
        <p:sp>
          <p:nvSpPr>
            <p:cNvPr id="84" name="椭圆 83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019E51E-2F21-DA44-8762-C9ACF144F7C7}"/>
              </a:ext>
            </a:extLst>
          </p:cNvPr>
          <p:cNvSpPr txBox="1"/>
          <p:nvPr/>
        </p:nvSpPr>
        <p:spPr>
          <a:xfrm>
            <a:off x="1559527" y="4773243"/>
            <a:ext cx="344092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b="1" spc="600" dirty="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学完后会有什么收获？</a:t>
            </a:r>
            <a:endParaRPr lang="en-US" altLang="zh-CN" b="1" spc="600" dirty="0">
              <a:solidFill>
                <a:srgbClr val="0331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DB710DA-C707-1716-D556-1007CA876D27}"/>
              </a:ext>
            </a:extLst>
          </p:cNvPr>
          <p:cNvSpPr/>
          <p:nvPr/>
        </p:nvSpPr>
        <p:spPr>
          <a:xfrm>
            <a:off x="5717595" y="3132165"/>
            <a:ext cx="986638" cy="1011716"/>
          </a:xfrm>
          <a:prstGeom prst="ellipse">
            <a:avLst/>
          </a:prstGeom>
          <a:solidFill>
            <a:srgbClr val="0068B7"/>
          </a:solidFill>
          <a:ln w="19050">
            <a:gradFill flip="none" rotWithShape="1">
              <a:gsLst>
                <a:gs pos="0">
                  <a:schemeClr val="bg1">
                    <a:lumMod val="60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270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EC57E4F-7F3D-366D-0046-47C7BA9656C5}"/>
              </a:ext>
            </a:extLst>
          </p:cNvPr>
          <p:cNvSpPr>
            <a:spLocks/>
          </p:cNvSpPr>
          <p:nvPr/>
        </p:nvSpPr>
        <p:spPr bwMode="auto">
          <a:xfrm>
            <a:off x="6102426" y="3291929"/>
            <a:ext cx="222871" cy="199817"/>
          </a:xfrm>
          <a:custGeom>
            <a:avLst/>
            <a:gdLst>
              <a:gd name="T0" fmla="*/ 5 w 11"/>
              <a:gd name="T1" fmla="*/ 10 h 10"/>
              <a:gd name="T2" fmla="*/ 5 w 11"/>
              <a:gd name="T3" fmla="*/ 10 h 10"/>
              <a:gd name="T4" fmla="*/ 11 w 11"/>
              <a:gd name="T5" fmla="*/ 5 h 10"/>
              <a:gd name="T6" fmla="*/ 5 w 11"/>
              <a:gd name="T7" fmla="*/ 0 h 10"/>
              <a:gd name="T8" fmla="*/ 5 w 11"/>
              <a:gd name="T9" fmla="*/ 0 h 10"/>
              <a:gd name="T10" fmla="*/ 0 w 11"/>
              <a:gd name="T11" fmla="*/ 5 h 10"/>
              <a:gd name="T12" fmla="*/ 5 w 11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0">
                <a:moveTo>
                  <a:pt x="5" y="10"/>
                </a:moveTo>
                <a:cubicBezTo>
                  <a:pt x="5" y="10"/>
                  <a:pt x="5" y="10"/>
                  <a:pt x="5" y="10"/>
                </a:cubicBezTo>
                <a:cubicBezTo>
                  <a:pt x="8" y="10"/>
                  <a:pt x="11" y="8"/>
                  <a:pt x="11" y="5"/>
                </a:cubicBezTo>
                <a:cubicBezTo>
                  <a:pt x="11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1"/>
                  <a:pt x="0" y="3"/>
                  <a:pt x="0" y="5"/>
                </a:cubicBezTo>
                <a:cubicBezTo>
                  <a:pt x="0" y="8"/>
                  <a:pt x="2" y="10"/>
                  <a:pt x="5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DA969CB2-DB92-67BA-B8FB-79434154EC7B}"/>
              </a:ext>
            </a:extLst>
          </p:cNvPr>
          <p:cNvSpPr>
            <a:spLocks/>
          </p:cNvSpPr>
          <p:nvPr/>
        </p:nvSpPr>
        <p:spPr bwMode="auto">
          <a:xfrm>
            <a:off x="5949139" y="3530679"/>
            <a:ext cx="491855" cy="322781"/>
          </a:xfrm>
          <a:custGeom>
            <a:avLst/>
            <a:gdLst>
              <a:gd name="T0" fmla="*/ 23 w 24"/>
              <a:gd name="T1" fmla="*/ 3 h 16"/>
              <a:gd name="T2" fmla="*/ 19 w 24"/>
              <a:gd name="T3" fmla="*/ 0 h 16"/>
              <a:gd name="T4" fmla="*/ 19 w 24"/>
              <a:gd name="T5" fmla="*/ 0 h 16"/>
              <a:gd name="T6" fmla="*/ 17 w 24"/>
              <a:gd name="T7" fmla="*/ 0 h 16"/>
              <a:gd name="T8" fmla="*/ 15 w 24"/>
              <a:gd name="T9" fmla="*/ 5 h 16"/>
              <a:gd name="T10" fmla="*/ 12 w 24"/>
              <a:gd name="T11" fmla="*/ 11 h 16"/>
              <a:gd name="T12" fmla="*/ 14 w 24"/>
              <a:gd name="T13" fmla="*/ 7 h 16"/>
              <a:gd name="T14" fmla="*/ 13 w 24"/>
              <a:gd name="T15" fmla="*/ 1 h 16"/>
              <a:gd name="T16" fmla="*/ 13 w 24"/>
              <a:gd name="T17" fmla="*/ 1 h 16"/>
              <a:gd name="T18" fmla="*/ 12 w 24"/>
              <a:gd name="T19" fmla="*/ 0 h 16"/>
              <a:gd name="T20" fmla="*/ 12 w 24"/>
              <a:gd name="T21" fmla="*/ 0 h 16"/>
              <a:gd name="T22" fmla="*/ 12 w 24"/>
              <a:gd name="T23" fmla="*/ 1 h 16"/>
              <a:gd name="T24" fmla="*/ 12 w 24"/>
              <a:gd name="T25" fmla="*/ 1 h 16"/>
              <a:gd name="T26" fmla="*/ 11 w 24"/>
              <a:gd name="T27" fmla="*/ 7 h 16"/>
              <a:gd name="T28" fmla="*/ 10 w 24"/>
              <a:gd name="T29" fmla="*/ 5 h 16"/>
              <a:gd name="T30" fmla="*/ 8 w 24"/>
              <a:gd name="T31" fmla="*/ 0 h 16"/>
              <a:gd name="T32" fmla="*/ 5 w 24"/>
              <a:gd name="T33" fmla="*/ 0 h 16"/>
              <a:gd name="T34" fmla="*/ 5 w 24"/>
              <a:gd name="T35" fmla="*/ 0 h 16"/>
              <a:gd name="T36" fmla="*/ 1 w 24"/>
              <a:gd name="T37" fmla="*/ 3 h 16"/>
              <a:gd name="T38" fmla="*/ 0 w 24"/>
              <a:gd name="T39" fmla="*/ 16 h 16"/>
              <a:gd name="T40" fmla="*/ 4 w 24"/>
              <a:gd name="T41" fmla="*/ 16 h 16"/>
              <a:gd name="T42" fmla="*/ 4 w 24"/>
              <a:gd name="T43" fmla="*/ 6 h 16"/>
              <a:gd name="T44" fmla="*/ 5 w 24"/>
              <a:gd name="T45" fmla="*/ 6 h 16"/>
              <a:gd name="T46" fmla="*/ 5 w 24"/>
              <a:gd name="T47" fmla="*/ 16 h 16"/>
              <a:gd name="T48" fmla="*/ 12 w 24"/>
              <a:gd name="T49" fmla="*/ 16 h 16"/>
              <a:gd name="T50" fmla="*/ 19 w 24"/>
              <a:gd name="T51" fmla="*/ 16 h 16"/>
              <a:gd name="T52" fmla="*/ 19 w 24"/>
              <a:gd name="T53" fmla="*/ 6 h 16"/>
              <a:gd name="T54" fmla="*/ 19 w 24"/>
              <a:gd name="T55" fmla="*/ 6 h 16"/>
              <a:gd name="T56" fmla="*/ 20 w 24"/>
              <a:gd name="T57" fmla="*/ 6 h 16"/>
              <a:gd name="T58" fmla="*/ 20 w 24"/>
              <a:gd name="T59" fmla="*/ 16 h 16"/>
              <a:gd name="T60" fmla="*/ 23 w 24"/>
              <a:gd name="T61" fmla="*/ 16 h 16"/>
              <a:gd name="T62" fmla="*/ 23 w 24"/>
              <a:gd name="T63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16">
                <a:moveTo>
                  <a:pt x="23" y="3"/>
                </a:moveTo>
                <a:cubicBezTo>
                  <a:pt x="22" y="1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2" y="11"/>
                  <a:pt x="12" y="11"/>
                  <a:pt x="12" y="11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5"/>
                  <a:pt x="0" y="11"/>
                  <a:pt x="0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16"/>
                  <a:pt x="20" y="16"/>
                  <a:pt x="2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1"/>
                  <a:pt x="24" y="5"/>
                  <a:pt x="23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44EF84-06F4-340D-EDE2-350B5C1324AB}"/>
              </a:ext>
            </a:extLst>
          </p:cNvPr>
          <p:cNvSpPr txBox="1"/>
          <p:nvPr/>
        </p:nvSpPr>
        <p:spPr>
          <a:xfrm>
            <a:off x="1152085" y="1696443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这阶段课程适合谁学？</a:t>
            </a:r>
            <a:endParaRPr lang="en-US" altLang="zh-CN" b="1" spc="6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A5177-F5F9-4F21-DFB7-E58021597DDB}"/>
              </a:ext>
            </a:extLst>
          </p:cNvPr>
          <p:cNvSpPr txBox="1"/>
          <p:nvPr/>
        </p:nvSpPr>
        <p:spPr>
          <a:xfrm>
            <a:off x="8472279" y="1753462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600" dirty="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课程安排是啥？</a:t>
            </a:r>
            <a:endParaRPr lang="en-US" altLang="zh-CN" b="1" spc="600" dirty="0">
              <a:solidFill>
                <a:srgbClr val="0331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32B5A3-A281-E1EF-167C-64089A7B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92" y="2419648"/>
            <a:ext cx="608093" cy="7053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69268FF-723F-1873-F47A-1CE1C3C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JavaSE</a:t>
            </a:r>
            <a:r>
              <a:rPr lang="zh-CN" altLang="en-US" dirty="0"/>
              <a:t>基础加强课程介绍</a:t>
            </a:r>
          </a:p>
        </p:txBody>
      </p:sp>
    </p:spTree>
    <p:extLst>
      <p:ext uri="{BB962C8B-B14F-4D97-AF65-F5344CB8AC3E}">
        <p14:creationId xmlns:p14="http://schemas.microsoft.com/office/powerpoint/2010/main" val="87476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3" grpId="0" animBg="1"/>
      <p:bldP spid="4" grpId="0" animBg="1"/>
      <p:bldP spid="5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FEF002B-D7FB-1D69-C6C0-55734EC34C66}"/>
              </a:ext>
            </a:extLst>
          </p:cNvPr>
          <p:cNvGrpSpPr/>
          <p:nvPr/>
        </p:nvGrpSpPr>
        <p:grpSpPr>
          <a:xfrm>
            <a:off x="1044030" y="1367794"/>
            <a:ext cx="2072420" cy="2584081"/>
            <a:chOff x="3295850" y="1908877"/>
            <a:chExt cx="3738030" cy="4660916"/>
          </a:xfrm>
        </p:grpSpPr>
        <p:sp>
          <p:nvSpPr>
            <p:cNvPr id="4" name="圆角矩形 18">
              <a:extLst>
                <a:ext uri="{FF2B5EF4-FFF2-40B4-BE49-F238E27FC236}">
                  <a16:creationId xmlns:a16="http://schemas.microsoft.com/office/drawing/2014/main" id="{3C7A262A-F9B7-EC40-E4D9-A129412F7EA8}"/>
                </a:ext>
              </a:extLst>
            </p:cNvPr>
            <p:cNvSpPr/>
            <p:nvPr/>
          </p:nvSpPr>
          <p:spPr>
            <a:xfrm rot="2760000">
              <a:off x="3098889" y="2634801"/>
              <a:ext cx="4660916" cy="3209067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rgbClr val="6C6C6C">
                    <a:alpha val="42000"/>
                  </a:srgbClr>
                </a:gs>
                <a:gs pos="0">
                  <a:schemeClr val="tx1">
                    <a:alpha val="54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3BC769-46F6-ED87-311C-1ED8721ABC95}"/>
                </a:ext>
              </a:extLst>
            </p:cNvPr>
            <p:cNvSpPr/>
            <p:nvPr/>
          </p:nvSpPr>
          <p:spPr bwMode="auto">
            <a:xfrm rot="10800000">
              <a:off x="3295850" y="2263222"/>
              <a:ext cx="2643765" cy="234315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rgbClr val="999999"/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012">
                <a:solidFill>
                  <a:prstClr val="black"/>
                </a:solidFill>
              </a:endParaRPr>
            </a:p>
          </p:txBody>
        </p:sp>
        <p:sp>
          <p:nvSpPr>
            <p:cNvPr id="6" name="圆角矩形 20">
              <a:extLst>
                <a:ext uri="{FF2B5EF4-FFF2-40B4-BE49-F238E27FC236}">
                  <a16:creationId xmlns:a16="http://schemas.microsoft.com/office/drawing/2014/main" id="{A4A15F00-CF5F-46CF-E078-835B8206AC2D}"/>
                </a:ext>
              </a:extLst>
            </p:cNvPr>
            <p:cNvSpPr/>
            <p:nvPr/>
          </p:nvSpPr>
          <p:spPr>
            <a:xfrm rot="2760000">
              <a:off x="3358628" y="2852802"/>
              <a:ext cx="3953506" cy="2592561"/>
            </a:xfrm>
            <a:prstGeom prst="roundRect">
              <a:avLst>
                <a:gd name="adj" fmla="val 50000"/>
              </a:avLst>
            </a:prstGeom>
            <a:gradFill>
              <a:gsLst>
                <a:gs pos="37000">
                  <a:srgbClr val="6C6C6C">
                    <a:alpha val="50000"/>
                  </a:srgbClr>
                </a:gs>
                <a:gs pos="0">
                  <a:schemeClr val="tx1">
                    <a:alpha val="61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BB919BE-E179-00CB-2470-A00131BF9724}"/>
                </a:ext>
              </a:extLst>
            </p:cNvPr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8353D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012">
                <a:solidFill>
                  <a:prstClr val="black"/>
                </a:solidFill>
              </a:endParaRPr>
            </a:p>
          </p:txBody>
        </p:sp>
      </p:grpSp>
      <p:sp>
        <p:nvSpPr>
          <p:cNvPr id="8" name="圆角矩形 22">
            <a:extLst>
              <a:ext uri="{FF2B5EF4-FFF2-40B4-BE49-F238E27FC236}">
                <a16:creationId xmlns:a16="http://schemas.microsoft.com/office/drawing/2014/main" id="{A616671E-9C41-5480-18C1-470107D6FD89}"/>
              </a:ext>
            </a:extLst>
          </p:cNvPr>
          <p:cNvSpPr/>
          <p:nvPr/>
        </p:nvSpPr>
        <p:spPr>
          <a:xfrm>
            <a:off x="2515451" y="1772956"/>
            <a:ext cx="4237752" cy="750884"/>
          </a:xfrm>
          <a:prstGeom prst="roundRect">
            <a:avLst>
              <a:gd name="adj" fmla="val 9976"/>
            </a:avLst>
          </a:prstGeom>
          <a:solidFill>
            <a:srgbClr val="F8353D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1CA4FED-477C-269C-F13D-C94CA0D296BA}"/>
              </a:ext>
            </a:extLst>
          </p:cNvPr>
          <p:cNvGrpSpPr/>
          <p:nvPr/>
        </p:nvGrpSpPr>
        <p:grpSpPr>
          <a:xfrm>
            <a:off x="2585720" y="2086731"/>
            <a:ext cx="118477" cy="118478"/>
            <a:chOff x="4486616" y="3001075"/>
            <a:chExt cx="274695" cy="274699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050C233-C48C-5932-151E-D9F2840C1992}"/>
                </a:ext>
              </a:extLst>
            </p:cNvPr>
            <p:cNvSpPr/>
            <p:nvPr/>
          </p:nvSpPr>
          <p:spPr>
            <a:xfrm rot="16200000">
              <a:off x="4486614" y="3001077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srgbClr val="F8353D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2DDDBC0-C160-B390-21A5-D6CFC3945D0B}"/>
                </a:ext>
              </a:extLst>
            </p:cNvPr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srgbClr val="F8353D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C2F258D-3FD8-6D51-E0DF-2FAD2FA8CAEB}"/>
              </a:ext>
            </a:extLst>
          </p:cNvPr>
          <p:cNvGrpSpPr/>
          <p:nvPr/>
        </p:nvGrpSpPr>
        <p:grpSpPr>
          <a:xfrm>
            <a:off x="2286294" y="2086731"/>
            <a:ext cx="118477" cy="118478"/>
            <a:chOff x="4486616" y="3001075"/>
            <a:chExt cx="274695" cy="274699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D1EAB53-AB19-7159-60F7-4C57D4429FC2}"/>
                </a:ext>
              </a:extLst>
            </p:cNvPr>
            <p:cNvSpPr/>
            <p:nvPr/>
          </p:nvSpPr>
          <p:spPr>
            <a:xfrm rot="16200000">
              <a:off x="4486614" y="3001077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AF853A9-2CED-F38D-005A-9C5343F5F7F1}"/>
                </a:ext>
              </a:extLst>
            </p:cNvPr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2B06662-1ABD-411F-1C89-3D78234F7D35}"/>
              </a:ext>
            </a:extLst>
          </p:cNvPr>
          <p:cNvGrpSpPr/>
          <p:nvPr/>
        </p:nvGrpSpPr>
        <p:grpSpPr>
          <a:xfrm>
            <a:off x="2352834" y="2120383"/>
            <a:ext cx="288163" cy="46061"/>
            <a:chOff x="4318304" y="3089060"/>
            <a:chExt cx="384317" cy="61430"/>
          </a:xfrm>
        </p:grpSpPr>
        <p:sp>
          <p:nvSpPr>
            <p:cNvPr id="16" name="圆角矩形 30">
              <a:extLst>
                <a:ext uri="{FF2B5EF4-FFF2-40B4-BE49-F238E27FC236}">
                  <a16:creationId xmlns:a16="http://schemas.microsoft.com/office/drawing/2014/main" id="{A089AFF4-E78F-4B43-D252-9E2B771E94C7}"/>
                </a:ext>
              </a:extLst>
            </p:cNvPr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17" name="圆角矩形 31">
              <a:extLst>
                <a:ext uri="{FF2B5EF4-FFF2-40B4-BE49-F238E27FC236}">
                  <a16:creationId xmlns:a16="http://schemas.microsoft.com/office/drawing/2014/main" id="{D069F955-5953-9AB7-4FE7-4929BCF00322}"/>
                </a:ext>
              </a:extLst>
            </p:cNvPr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</p:grpSp>
      <p:sp>
        <p:nvSpPr>
          <p:cNvPr id="18" name="文本框 40">
            <a:extLst>
              <a:ext uri="{FF2B5EF4-FFF2-40B4-BE49-F238E27FC236}">
                <a16:creationId xmlns:a16="http://schemas.microsoft.com/office/drawing/2014/main" id="{1BE74056-2173-1519-F187-BD4ADDA94C24}"/>
              </a:ext>
            </a:extLst>
          </p:cNvPr>
          <p:cNvSpPr txBox="1"/>
          <p:nvPr/>
        </p:nvSpPr>
        <p:spPr>
          <a:xfrm>
            <a:off x="3031022" y="1965824"/>
            <a:ext cx="3580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具备一定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基础的人员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3593DF6-62CB-C7DE-70F6-AF0B6B96B3E5}"/>
              </a:ext>
            </a:extLst>
          </p:cNvPr>
          <p:cNvGrpSpPr/>
          <p:nvPr/>
        </p:nvGrpSpPr>
        <p:grpSpPr>
          <a:xfrm>
            <a:off x="2887164" y="1966709"/>
            <a:ext cx="486457" cy="429536"/>
            <a:chOff x="5030931" y="2884106"/>
            <a:chExt cx="648779" cy="572863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382E68A-0962-B101-3938-D45FBF200466}"/>
                </a:ext>
              </a:extLst>
            </p:cNvPr>
            <p:cNvSpPr/>
            <p:nvPr/>
          </p:nvSpPr>
          <p:spPr>
            <a:xfrm>
              <a:off x="5055353" y="2884106"/>
              <a:ext cx="562742" cy="5627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srgbClr val="F8353D"/>
                </a:solidFill>
                <a:latin typeface="Impact MT Std" pitchFamily="34" charset="0"/>
              </a:endParaRPr>
            </a:p>
          </p:txBody>
        </p:sp>
        <p:sp>
          <p:nvSpPr>
            <p:cNvPr id="21" name="文本框 58">
              <a:extLst>
                <a:ext uri="{FF2B5EF4-FFF2-40B4-BE49-F238E27FC236}">
                  <a16:creationId xmlns:a16="http://schemas.microsoft.com/office/drawing/2014/main" id="{D16F6FD1-85E1-0B01-2C4E-6FCE1FBB09DB}"/>
                </a:ext>
              </a:extLst>
            </p:cNvPr>
            <p:cNvSpPr txBox="1"/>
            <p:nvPr/>
          </p:nvSpPr>
          <p:spPr>
            <a:xfrm>
              <a:off x="5030931" y="2902999"/>
              <a:ext cx="648779" cy="553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99" dirty="0">
                  <a:solidFill>
                    <a:srgbClr val="F8353D"/>
                  </a:solidFill>
                  <a:latin typeface="Impact MT Std" pitchFamily="34" charset="0"/>
                </a:rPr>
                <a:t>01</a:t>
              </a:r>
              <a:endParaRPr lang="zh-CN" altLang="en-US" sz="2099" dirty="0">
                <a:solidFill>
                  <a:srgbClr val="F8353D"/>
                </a:solidFill>
                <a:latin typeface="Impact MT Std" pitchFamily="34" charset="0"/>
              </a:endParaRPr>
            </a:p>
          </p:txBody>
        </p:sp>
      </p:grpSp>
      <p:sp>
        <p:nvSpPr>
          <p:cNvPr id="22" name="KSO_Shape">
            <a:extLst>
              <a:ext uri="{FF2B5EF4-FFF2-40B4-BE49-F238E27FC236}">
                <a16:creationId xmlns:a16="http://schemas.microsoft.com/office/drawing/2014/main" id="{95BFC108-7C4E-EF61-DF78-0694AADFB6F7}"/>
              </a:ext>
            </a:extLst>
          </p:cNvPr>
          <p:cNvSpPr/>
          <p:nvPr/>
        </p:nvSpPr>
        <p:spPr bwMode="auto">
          <a:xfrm>
            <a:off x="1473678" y="1950209"/>
            <a:ext cx="647505" cy="641031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012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058AA29-D2F8-90B6-BFD2-503447237458}"/>
              </a:ext>
            </a:extLst>
          </p:cNvPr>
          <p:cNvGrpSpPr/>
          <p:nvPr/>
        </p:nvGrpSpPr>
        <p:grpSpPr>
          <a:xfrm>
            <a:off x="4502455" y="3297623"/>
            <a:ext cx="2072420" cy="2584081"/>
            <a:chOff x="3295850" y="1908877"/>
            <a:chExt cx="3738030" cy="4660916"/>
          </a:xfrm>
        </p:grpSpPr>
        <p:sp>
          <p:nvSpPr>
            <p:cNvPr id="55" name="圆角矩形 19">
              <a:extLst>
                <a:ext uri="{FF2B5EF4-FFF2-40B4-BE49-F238E27FC236}">
                  <a16:creationId xmlns:a16="http://schemas.microsoft.com/office/drawing/2014/main" id="{3118C90B-AF5C-6B25-9DB8-AC928BD5C721}"/>
                </a:ext>
              </a:extLst>
            </p:cNvPr>
            <p:cNvSpPr/>
            <p:nvPr/>
          </p:nvSpPr>
          <p:spPr>
            <a:xfrm rot="2760000">
              <a:off x="3098889" y="2634801"/>
              <a:ext cx="4660916" cy="3209067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rgbClr val="6C6C6C">
                    <a:alpha val="42000"/>
                  </a:srgbClr>
                </a:gs>
                <a:gs pos="0">
                  <a:schemeClr val="tx1">
                    <a:alpha val="54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C6CFA5E7-6A93-0269-E12E-1446D6295D5A}"/>
                </a:ext>
              </a:extLst>
            </p:cNvPr>
            <p:cNvSpPr/>
            <p:nvPr/>
          </p:nvSpPr>
          <p:spPr bwMode="auto">
            <a:xfrm rot="10800000">
              <a:off x="3295850" y="2263222"/>
              <a:ext cx="2643765" cy="234315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25400">
              <a:gradFill flip="none" rotWithShape="1">
                <a:gsLst>
                  <a:gs pos="29000">
                    <a:srgbClr val="E0E0E0"/>
                  </a:gs>
                  <a:gs pos="0">
                    <a:srgbClr val="999999"/>
                  </a:gs>
                  <a:gs pos="83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355600" dist="88900" dir="2700000" algn="tl" rotWithShape="0">
                <a:prstClr val="black">
                  <a:alpha val="28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012">
                <a:solidFill>
                  <a:prstClr val="black"/>
                </a:solidFill>
              </a:endParaRPr>
            </a:p>
          </p:txBody>
        </p:sp>
        <p:sp>
          <p:nvSpPr>
            <p:cNvPr id="57" name="圆角矩形 21">
              <a:extLst>
                <a:ext uri="{FF2B5EF4-FFF2-40B4-BE49-F238E27FC236}">
                  <a16:creationId xmlns:a16="http://schemas.microsoft.com/office/drawing/2014/main" id="{AF2CB060-02BD-4CCD-DA27-19D750AE7E8D}"/>
                </a:ext>
              </a:extLst>
            </p:cNvPr>
            <p:cNvSpPr/>
            <p:nvPr/>
          </p:nvSpPr>
          <p:spPr>
            <a:xfrm rot="2760000">
              <a:off x="3358628" y="2852802"/>
              <a:ext cx="3953506" cy="2592561"/>
            </a:xfrm>
            <a:prstGeom prst="roundRect">
              <a:avLst>
                <a:gd name="adj" fmla="val 50000"/>
              </a:avLst>
            </a:prstGeom>
            <a:gradFill>
              <a:gsLst>
                <a:gs pos="37000">
                  <a:srgbClr val="6C6C6C">
                    <a:alpha val="50000"/>
                  </a:srgbClr>
                </a:gs>
                <a:gs pos="0">
                  <a:schemeClr val="tx1">
                    <a:alpha val="61000"/>
                  </a:schemeClr>
                </a:gs>
                <a:gs pos="100000">
                  <a:srgbClr val="D8D8D8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softEdge rad="254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58" name="Freeform 5">
              <a:extLst>
                <a:ext uri="{FF2B5EF4-FFF2-40B4-BE49-F238E27FC236}">
                  <a16:creationId xmlns:a16="http://schemas.microsoft.com/office/drawing/2014/main" id="{DDAE1F11-4F48-941A-05C0-8252F0536BD9}"/>
                </a:ext>
              </a:extLst>
            </p:cNvPr>
            <p:cNvSpPr/>
            <p:nvPr/>
          </p:nvSpPr>
          <p:spPr bwMode="auto">
            <a:xfrm rot="10800000">
              <a:off x="3589408" y="2523401"/>
              <a:ext cx="2056648" cy="18227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01ACBE"/>
            </a:solidFill>
            <a:ln w="25400">
              <a:noFill/>
            </a:ln>
            <a:effectLst>
              <a:outerShdw blurRad="254000" dist="114300" dir="2700000" algn="tl" rotWithShape="0">
                <a:prstClr val="black">
                  <a:alpha val="25000"/>
                </a:prstClr>
              </a:outerShdw>
            </a:effec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012">
                <a:solidFill>
                  <a:prstClr val="black"/>
                </a:solidFill>
              </a:endParaRPr>
            </a:p>
          </p:txBody>
        </p:sp>
      </p:grpSp>
      <p:sp>
        <p:nvSpPr>
          <p:cNvPr id="59" name="圆角矩形 23">
            <a:extLst>
              <a:ext uri="{FF2B5EF4-FFF2-40B4-BE49-F238E27FC236}">
                <a16:creationId xmlns:a16="http://schemas.microsoft.com/office/drawing/2014/main" id="{A41097A6-71CF-260A-B1DA-E55D4BF51EFF}"/>
              </a:ext>
            </a:extLst>
          </p:cNvPr>
          <p:cNvSpPr/>
          <p:nvPr/>
        </p:nvSpPr>
        <p:spPr>
          <a:xfrm>
            <a:off x="5973875" y="3702785"/>
            <a:ext cx="5294830" cy="750884"/>
          </a:xfrm>
          <a:prstGeom prst="roundRect">
            <a:avLst>
              <a:gd name="adj" fmla="val 9976"/>
            </a:avLst>
          </a:prstGeom>
          <a:solidFill>
            <a:srgbClr val="01ACBE"/>
          </a:solidFill>
          <a:ln w="25400">
            <a:gradFill flip="none" rotWithShape="1">
              <a:gsLst>
                <a:gs pos="88000">
                  <a:schemeClr val="bg1"/>
                </a:gs>
                <a:gs pos="0">
                  <a:schemeClr val="bg1">
                    <a:lumMod val="75000"/>
                  </a:schemeClr>
                </a:gs>
                <a:gs pos="71000">
                  <a:schemeClr val="bg1">
                    <a:lumMod val="85000"/>
                  </a:schemeClr>
                </a:gs>
                <a:gs pos="55000">
                  <a:schemeClr val="bg1"/>
                </a:gs>
                <a:gs pos="37000">
                  <a:schemeClr val="bg1">
                    <a:lumMod val="85000"/>
                  </a:schemeClr>
                </a:gs>
                <a:gs pos="2200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200000" scaled="0"/>
              <a:tileRect/>
            </a:gradFill>
          </a:ln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2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AD627FF-97BD-6876-F988-F6C223642B84}"/>
              </a:ext>
            </a:extLst>
          </p:cNvPr>
          <p:cNvGrpSpPr/>
          <p:nvPr/>
        </p:nvGrpSpPr>
        <p:grpSpPr>
          <a:xfrm>
            <a:off x="6044145" y="4016560"/>
            <a:ext cx="118477" cy="118478"/>
            <a:chOff x="4486616" y="3001075"/>
            <a:chExt cx="274695" cy="274699"/>
          </a:xfrm>
        </p:grpSpPr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7A6A3928-9296-823B-388A-0094364165FA}"/>
                </a:ext>
              </a:extLst>
            </p:cNvPr>
            <p:cNvSpPr/>
            <p:nvPr/>
          </p:nvSpPr>
          <p:spPr>
            <a:xfrm rot="16200000">
              <a:off x="4486614" y="3001077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3842C6C5-52F9-3319-2D3F-CE840339CE00}"/>
                </a:ext>
              </a:extLst>
            </p:cNvPr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B52978E-ACF4-415D-904C-FEB16E39F422}"/>
              </a:ext>
            </a:extLst>
          </p:cNvPr>
          <p:cNvGrpSpPr/>
          <p:nvPr/>
        </p:nvGrpSpPr>
        <p:grpSpPr>
          <a:xfrm>
            <a:off x="5744719" y="4016560"/>
            <a:ext cx="118477" cy="118478"/>
            <a:chOff x="4486616" y="3001075"/>
            <a:chExt cx="274695" cy="274699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C58F318B-F72A-50B1-D333-7D209F3F04E9}"/>
                </a:ext>
              </a:extLst>
            </p:cNvPr>
            <p:cNvSpPr/>
            <p:nvPr/>
          </p:nvSpPr>
          <p:spPr>
            <a:xfrm rot="16200000">
              <a:off x="4486614" y="3001077"/>
              <a:ext cx="274699" cy="274695"/>
            </a:xfrm>
            <a:prstGeom prst="ellipse">
              <a:avLst/>
            </a:prstGeom>
            <a:gradFill>
              <a:gsLst>
                <a:gs pos="75000">
                  <a:schemeClr val="bg1">
                    <a:lumMod val="95000"/>
                  </a:schemeClr>
                </a:gs>
                <a:gs pos="55000">
                  <a:schemeClr val="bg1">
                    <a:lumMod val="65000"/>
                  </a:schemeClr>
                </a:gs>
                <a:gs pos="35000">
                  <a:schemeClr val="bg1">
                    <a:lumMod val="95000"/>
                  </a:schemeClr>
                </a:gs>
                <a:gs pos="17000">
                  <a:schemeClr val="bg1">
                    <a:lumMod val="65000"/>
                  </a:schemeClr>
                </a:gs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6C68F42D-9787-D4D9-211B-964F56B75CD0}"/>
                </a:ext>
              </a:extLst>
            </p:cNvPr>
            <p:cNvSpPr/>
            <p:nvPr/>
          </p:nvSpPr>
          <p:spPr>
            <a:xfrm rot="16200000">
              <a:off x="4511585" y="3026055"/>
              <a:ext cx="224753" cy="2247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innerShdw blurRad="127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8F0E47E1-A6D7-796A-6101-C2A9A61CE16B}"/>
              </a:ext>
            </a:extLst>
          </p:cNvPr>
          <p:cNvGrpSpPr/>
          <p:nvPr/>
        </p:nvGrpSpPr>
        <p:grpSpPr>
          <a:xfrm>
            <a:off x="5811259" y="4050212"/>
            <a:ext cx="288163" cy="46061"/>
            <a:chOff x="4318304" y="3089060"/>
            <a:chExt cx="384317" cy="61430"/>
          </a:xfrm>
        </p:grpSpPr>
        <p:sp>
          <p:nvSpPr>
            <p:cNvPr id="67" name="圆角矩形 31">
              <a:extLst>
                <a:ext uri="{FF2B5EF4-FFF2-40B4-BE49-F238E27FC236}">
                  <a16:creationId xmlns:a16="http://schemas.microsoft.com/office/drawing/2014/main" id="{A17404CB-590F-830E-B7B8-86C68922C44D}"/>
                </a:ext>
              </a:extLst>
            </p:cNvPr>
            <p:cNvSpPr/>
            <p:nvPr/>
          </p:nvSpPr>
          <p:spPr>
            <a:xfrm rot="16200000">
              <a:off x="4499257" y="2947128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  <p:sp>
          <p:nvSpPr>
            <p:cNvPr id="68" name="圆角矩形 32">
              <a:extLst>
                <a:ext uri="{FF2B5EF4-FFF2-40B4-BE49-F238E27FC236}">
                  <a16:creationId xmlns:a16="http://schemas.microsoft.com/office/drawing/2014/main" id="{F46B8D66-E62E-2D38-84A3-622C80EFBC08}"/>
                </a:ext>
              </a:extLst>
            </p:cNvPr>
            <p:cNvSpPr/>
            <p:nvPr/>
          </p:nvSpPr>
          <p:spPr>
            <a:xfrm rot="16200000">
              <a:off x="4499258" y="2908107"/>
              <a:ext cx="22409" cy="384316"/>
            </a:xfrm>
            <a:prstGeom prst="roundRect">
              <a:avLst>
                <a:gd name="adj" fmla="val 50000"/>
              </a:avLst>
            </a:prstGeom>
            <a:gradFill>
              <a:gsLst>
                <a:gs pos="74000">
                  <a:schemeClr val="bg1"/>
                </a:gs>
                <a:gs pos="52000">
                  <a:schemeClr val="bg1">
                    <a:lumMod val="85000"/>
                  </a:schemeClr>
                </a:gs>
                <a:gs pos="23000">
                  <a:schemeClr val="bg1">
                    <a:lumMod val="65000"/>
                  </a:schemeClr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4000">
                    <a:schemeClr val="bg1">
                      <a:lumMod val="75000"/>
                    </a:schemeClr>
                  </a:gs>
                  <a:gs pos="78000">
                    <a:schemeClr val="bg1"/>
                  </a:gs>
                  <a:gs pos="61000">
                    <a:schemeClr val="bg1">
                      <a:lumMod val="10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  <a:tileRect/>
              </a:gradFill>
            </a:ln>
            <a:effectLst>
              <a:outerShdw blurRad="254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prstClr val="white"/>
                </a:solidFill>
              </a:endParaRPr>
            </a:p>
          </p:txBody>
        </p:sp>
      </p:grpSp>
      <p:sp>
        <p:nvSpPr>
          <p:cNvPr id="69" name="文本框 40">
            <a:extLst>
              <a:ext uri="{FF2B5EF4-FFF2-40B4-BE49-F238E27FC236}">
                <a16:creationId xmlns:a16="http://schemas.microsoft.com/office/drawing/2014/main" id="{858ADBE2-1FDA-5FDD-9641-5C323569FABC}"/>
              </a:ext>
            </a:extLst>
          </p:cNvPr>
          <p:cNvSpPr txBox="1"/>
          <p:nvPr/>
        </p:nvSpPr>
        <p:spPr>
          <a:xfrm>
            <a:off x="6619139" y="3941820"/>
            <a:ext cx="483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想深刻体会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编程思想，成为大牛的人员</a:t>
            </a: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9FDE848-E32F-96C2-9CD7-0DC1080F0CD2}"/>
              </a:ext>
            </a:extLst>
          </p:cNvPr>
          <p:cNvGrpSpPr/>
          <p:nvPr/>
        </p:nvGrpSpPr>
        <p:grpSpPr>
          <a:xfrm>
            <a:off x="6345588" y="3896538"/>
            <a:ext cx="492852" cy="429536"/>
            <a:chOff x="5030931" y="2884106"/>
            <a:chExt cx="657308" cy="572863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034A945D-F311-E19A-6A52-CB0096D59B1D}"/>
                </a:ext>
              </a:extLst>
            </p:cNvPr>
            <p:cNvSpPr/>
            <p:nvPr/>
          </p:nvSpPr>
          <p:spPr>
            <a:xfrm>
              <a:off x="5055353" y="2884106"/>
              <a:ext cx="562742" cy="5627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2">
                <a:solidFill>
                  <a:srgbClr val="01ACBE"/>
                </a:solidFill>
                <a:latin typeface="Impact MT Std" pitchFamily="34" charset="0"/>
              </a:endParaRPr>
            </a:p>
          </p:txBody>
        </p:sp>
        <p:sp>
          <p:nvSpPr>
            <p:cNvPr id="72" name="文本框 58">
              <a:extLst>
                <a:ext uri="{FF2B5EF4-FFF2-40B4-BE49-F238E27FC236}">
                  <a16:creationId xmlns:a16="http://schemas.microsoft.com/office/drawing/2014/main" id="{228D4FCD-FB40-1685-0BFC-655AA11BBC10}"/>
                </a:ext>
              </a:extLst>
            </p:cNvPr>
            <p:cNvSpPr txBox="1"/>
            <p:nvPr/>
          </p:nvSpPr>
          <p:spPr>
            <a:xfrm>
              <a:off x="5030931" y="2902999"/>
              <a:ext cx="657308" cy="553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99" dirty="0">
                  <a:solidFill>
                    <a:srgbClr val="01ACBE"/>
                  </a:solidFill>
                  <a:latin typeface="Impact MT Std" pitchFamily="34" charset="0"/>
                </a:rPr>
                <a:t>02</a:t>
              </a:r>
              <a:endParaRPr lang="zh-CN" altLang="en-US" sz="2099" dirty="0">
                <a:solidFill>
                  <a:srgbClr val="01ACBE"/>
                </a:solidFill>
                <a:latin typeface="Impact MT Std" pitchFamily="34" charset="0"/>
              </a:endParaRPr>
            </a:p>
          </p:txBody>
        </p:sp>
      </p:grpSp>
      <p:sp>
        <p:nvSpPr>
          <p:cNvPr id="74" name="KSO_Shape">
            <a:extLst>
              <a:ext uri="{FF2B5EF4-FFF2-40B4-BE49-F238E27FC236}">
                <a16:creationId xmlns:a16="http://schemas.microsoft.com/office/drawing/2014/main" id="{D171DD89-05B6-162B-877F-8A96F5E8E11A}"/>
              </a:ext>
            </a:extLst>
          </p:cNvPr>
          <p:cNvSpPr/>
          <p:nvPr/>
        </p:nvSpPr>
        <p:spPr bwMode="auto">
          <a:xfrm>
            <a:off x="4896212" y="3920682"/>
            <a:ext cx="649321" cy="445868"/>
          </a:xfrm>
          <a:custGeom>
            <a:avLst/>
            <a:gdLst>
              <a:gd name="T0" fmla="*/ 2147483646 w 112"/>
              <a:gd name="T1" fmla="*/ 2147483646 h 77"/>
              <a:gd name="T2" fmla="*/ 2147483646 w 112"/>
              <a:gd name="T3" fmla="*/ 2147483646 h 77"/>
              <a:gd name="T4" fmla="*/ 2147483646 w 112"/>
              <a:gd name="T5" fmla="*/ 2147483646 h 77"/>
              <a:gd name="T6" fmla="*/ 2147483646 w 112"/>
              <a:gd name="T7" fmla="*/ 2147483646 h 77"/>
              <a:gd name="T8" fmla="*/ 2147483646 w 112"/>
              <a:gd name="T9" fmla="*/ 2147483646 h 77"/>
              <a:gd name="T10" fmla="*/ 0 w 112"/>
              <a:gd name="T11" fmla="*/ 2147483646 h 77"/>
              <a:gd name="T12" fmla="*/ 2147483646 w 112"/>
              <a:gd name="T13" fmla="*/ 2147483646 h 77"/>
              <a:gd name="T14" fmla="*/ 2147483646 w 112"/>
              <a:gd name="T15" fmla="*/ 2147483646 h 77"/>
              <a:gd name="T16" fmla="*/ 2147483646 w 112"/>
              <a:gd name="T17" fmla="*/ 2147483646 h 77"/>
              <a:gd name="T18" fmla="*/ 2147483646 w 112"/>
              <a:gd name="T19" fmla="*/ 2147483646 h 77"/>
              <a:gd name="T20" fmla="*/ 2147483646 w 112"/>
              <a:gd name="T21" fmla="*/ 2147483646 h 77"/>
              <a:gd name="T22" fmla="*/ 2147483646 w 112"/>
              <a:gd name="T23" fmla="*/ 2147483646 h 77"/>
              <a:gd name="T24" fmla="*/ 2147483646 w 112"/>
              <a:gd name="T25" fmla="*/ 2147483646 h 77"/>
              <a:gd name="T26" fmla="*/ 2147483646 w 112"/>
              <a:gd name="T27" fmla="*/ 2147483646 h 77"/>
              <a:gd name="T28" fmla="*/ 2147483646 w 112"/>
              <a:gd name="T29" fmla="*/ 2147483646 h 77"/>
              <a:gd name="T30" fmla="*/ 2147483646 w 112"/>
              <a:gd name="T31" fmla="*/ 2147483646 h 77"/>
              <a:gd name="T32" fmla="*/ 2147483646 w 112"/>
              <a:gd name="T33" fmla="*/ 2147483646 h 77"/>
              <a:gd name="T34" fmla="*/ 2147483646 w 112"/>
              <a:gd name="T35" fmla="*/ 2147483646 h 77"/>
              <a:gd name="T36" fmla="*/ 2147483646 w 112"/>
              <a:gd name="T37" fmla="*/ 2147483646 h 77"/>
              <a:gd name="T38" fmla="*/ 2147483646 w 112"/>
              <a:gd name="T39" fmla="*/ 2147483646 h 77"/>
              <a:gd name="T40" fmla="*/ 2147483646 w 112"/>
              <a:gd name="T41" fmla="*/ 2147483646 h 77"/>
              <a:gd name="T42" fmla="*/ 2147483646 w 112"/>
              <a:gd name="T43" fmla="*/ 2147483646 h 77"/>
              <a:gd name="T44" fmla="*/ 2147483646 w 112"/>
              <a:gd name="T45" fmla="*/ 2147483646 h 77"/>
              <a:gd name="T46" fmla="*/ 2147483646 w 112"/>
              <a:gd name="T47" fmla="*/ 2147483646 h 77"/>
              <a:gd name="T48" fmla="*/ 2147483646 w 112"/>
              <a:gd name="T49" fmla="*/ 2147483646 h 77"/>
              <a:gd name="T50" fmla="*/ 2147483646 w 112"/>
              <a:gd name="T51" fmla="*/ 2147483646 h 77"/>
              <a:gd name="T52" fmla="*/ 2147483646 w 112"/>
              <a:gd name="T53" fmla="*/ 2147483646 h 77"/>
              <a:gd name="T54" fmla="*/ 2147483646 w 112"/>
              <a:gd name="T55" fmla="*/ 2147483646 h 77"/>
              <a:gd name="T56" fmla="*/ 2147483646 w 112"/>
              <a:gd name="T57" fmla="*/ 2147483646 h 77"/>
              <a:gd name="T58" fmla="*/ 2147483646 w 112"/>
              <a:gd name="T59" fmla="*/ 2147483646 h 77"/>
              <a:gd name="T60" fmla="*/ 2147483646 w 112"/>
              <a:gd name="T61" fmla="*/ 2147483646 h 77"/>
              <a:gd name="T62" fmla="*/ 2147483646 w 112"/>
              <a:gd name="T63" fmla="*/ 2147483646 h 77"/>
              <a:gd name="T64" fmla="*/ 2147483646 w 112"/>
              <a:gd name="T65" fmla="*/ 2147483646 h 77"/>
              <a:gd name="T66" fmla="*/ 2147483646 w 112"/>
              <a:gd name="T67" fmla="*/ 2147483646 h 77"/>
              <a:gd name="T68" fmla="*/ 2147483646 w 112"/>
              <a:gd name="T69" fmla="*/ 2147483646 h 77"/>
              <a:gd name="T70" fmla="*/ 2147483646 w 112"/>
              <a:gd name="T71" fmla="*/ 2147483646 h 77"/>
              <a:gd name="T72" fmla="*/ 2147483646 w 112"/>
              <a:gd name="T73" fmla="*/ 2147483646 h 77"/>
              <a:gd name="T74" fmla="*/ 2147483646 w 112"/>
              <a:gd name="T75" fmla="*/ 2147483646 h 77"/>
              <a:gd name="T76" fmla="*/ 2147483646 w 112"/>
              <a:gd name="T77" fmla="*/ 2147483646 h 77"/>
              <a:gd name="T78" fmla="*/ 2147483646 w 112"/>
              <a:gd name="T79" fmla="*/ 2147483646 h 77"/>
              <a:gd name="T80" fmla="*/ 2147483646 w 112"/>
              <a:gd name="T81" fmla="*/ 2147483646 h 77"/>
              <a:gd name="T82" fmla="*/ 2147483646 w 112"/>
              <a:gd name="T83" fmla="*/ 2147483646 h 77"/>
              <a:gd name="T84" fmla="*/ 2147483646 w 112"/>
              <a:gd name="T85" fmla="*/ 2147483646 h 77"/>
              <a:gd name="T86" fmla="*/ 2147483646 w 112"/>
              <a:gd name="T87" fmla="*/ 2147483646 h 7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2" h="77">
                <a:moveTo>
                  <a:pt x="56" y="0"/>
                </a:moveTo>
                <a:cubicBezTo>
                  <a:pt x="62" y="0"/>
                  <a:pt x="66" y="4"/>
                  <a:pt x="66" y="10"/>
                </a:cubicBezTo>
                <a:cubicBezTo>
                  <a:pt x="66" y="15"/>
                  <a:pt x="62" y="20"/>
                  <a:pt x="56" y="20"/>
                </a:cubicBezTo>
                <a:cubicBezTo>
                  <a:pt x="51" y="20"/>
                  <a:pt x="46" y="15"/>
                  <a:pt x="46" y="10"/>
                </a:cubicBezTo>
                <a:cubicBezTo>
                  <a:pt x="46" y="4"/>
                  <a:pt x="51" y="0"/>
                  <a:pt x="56" y="0"/>
                </a:cubicBezTo>
                <a:close/>
                <a:moveTo>
                  <a:pt x="15" y="49"/>
                </a:moveTo>
                <a:cubicBezTo>
                  <a:pt x="15" y="66"/>
                  <a:pt x="15" y="66"/>
                  <a:pt x="15" y="66"/>
                </a:cubicBezTo>
                <a:cubicBezTo>
                  <a:pt x="10" y="66"/>
                  <a:pt x="10" y="66"/>
                  <a:pt x="10" y="66"/>
                </a:cubicBez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66"/>
                  <a:pt x="9" y="66"/>
                  <a:pt x="9" y="66"/>
                </a:cubicBezTo>
                <a:cubicBezTo>
                  <a:pt x="4" y="66"/>
                  <a:pt x="4" y="66"/>
                  <a:pt x="4" y="6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6"/>
                  <a:pt x="4" y="46"/>
                  <a:pt x="4" y="46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46"/>
                  <a:pt x="4" y="46"/>
                  <a:pt x="4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1"/>
                  <a:pt x="1" y="29"/>
                  <a:pt x="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30"/>
                  <a:pt x="13" y="30"/>
                  <a:pt x="13" y="31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49"/>
                  <a:pt x="15" y="49"/>
                  <a:pt x="15" y="49"/>
                </a:cubicBezTo>
                <a:close/>
                <a:moveTo>
                  <a:pt x="10" y="15"/>
                </a:moveTo>
                <a:cubicBezTo>
                  <a:pt x="13" y="15"/>
                  <a:pt x="16" y="18"/>
                  <a:pt x="16" y="22"/>
                </a:cubicBezTo>
                <a:cubicBezTo>
                  <a:pt x="16" y="23"/>
                  <a:pt x="16" y="24"/>
                  <a:pt x="15" y="25"/>
                </a:cubicBezTo>
                <a:cubicBezTo>
                  <a:pt x="15" y="26"/>
                  <a:pt x="15" y="26"/>
                  <a:pt x="14" y="26"/>
                </a:cubicBezTo>
                <a:cubicBezTo>
                  <a:pt x="13" y="27"/>
                  <a:pt x="12" y="28"/>
                  <a:pt x="10" y="28"/>
                </a:cubicBezTo>
                <a:cubicBezTo>
                  <a:pt x="6" y="28"/>
                  <a:pt x="3" y="25"/>
                  <a:pt x="3" y="22"/>
                </a:cubicBezTo>
                <a:cubicBezTo>
                  <a:pt x="3" y="18"/>
                  <a:pt x="6" y="15"/>
                  <a:pt x="10" y="15"/>
                </a:cubicBezTo>
                <a:close/>
                <a:moveTo>
                  <a:pt x="96" y="49"/>
                </a:moveTo>
                <a:cubicBezTo>
                  <a:pt x="96" y="66"/>
                  <a:pt x="96" y="66"/>
                  <a:pt x="96" y="66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1" y="52"/>
                  <a:pt x="101" y="52"/>
                  <a:pt x="101" y="52"/>
                </a:cubicBezTo>
                <a:cubicBezTo>
                  <a:pt x="102" y="52"/>
                  <a:pt x="102" y="52"/>
                  <a:pt x="102" y="52"/>
                </a:cubicBezTo>
                <a:cubicBezTo>
                  <a:pt x="102" y="66"/>
                  <a:pt x="102" y="66"/>
                  <a:pt x="102" y="66"/>
                </a:cubicBezTo>
                <a:cubicBezTo>
                  <a:pt x="107" y="66"/>
                  <a:pt x="107" y="66"/>
                  <a:pt x="107" y="66"/>
                </a:cubicBezTo>
                <a:cubicBezTo>
                  <a:pt x="107" y="49"/>
                  <a:pt x="107" y="49"/>
                  <a:pt x="107" y="49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2" y="31"/>
                  <a:pt x="110" y="29"/>
                  <a:pt x="107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98" y="30"/>
                  <a:pt x="98" y="30"/>
                  <a:pt x="98" y="31"/>
                </a:cubicBezTo>
                <a:cubicBezTo>
                  <a:pt x="98" y="49"/>
                  <a:pt x="98" y="49"/>
                  <a:pt x="98" y="49"/>
                </a:cubicBezTo>
                <a:cubicBezTo>
                  <a:pt x="96" y="49"/>
                  <a:pt x="96" y="49"/>
                  <a:pt x="96" y="49"/>
                </a:cubicBezTo>
                <a:close/>
                <a:moveTo>
                  <a:pt x="101" y="15"/>
                </a:moveTo>
                <a:cubicBezTo>
                  <a:pt x="98" y="15"/>
                  <a:pt x="95" y="18"/>
                  <a:pt x="95" y="22"/>
                </a:cubicBezTo>
                <a:cubicBezTo>
                  <a:pt x="95" y="23"/>
                  <a:pt x="95" y="24"/>
                  <a:pt x="96" y="25"/>
                </a:cubicBezTo>
                <a:cubicBezTo>
                  <a:pt x="96" y="26"/>
                  <a:pt x="97" y="26"/>
                  <a:pt x="97" y="26"/>
                </a:cubicBezTo>
                <a:cubicBezTo>
                  <a:pt x="98" y="27"/>
                  <a:pt x="100" y="28"/>
                  <a:pt x="101" y="28"/>
                </a:cubicBezTo>
                <a:cubicBezTo>
                  <a:pt x="105" y="28"/>
                  <a:pt x="108" y="25"/>
                  <a:pt x="108" y="22"/>
                </a:cubicBezTo>
                <a:cubicBezTo>
                  <a:pt x="108" y="18"/>
                  <a:pt x="105" y="15"/>
                  <a:pt x="101" y="15"/>
                </a:cubicBezTo>
                <a:close/>
                <a:moveTo>
                  <a:pt x="75" y="51"/>
                </a:moveTo>
                <a:cubicBezTo>
                  <a:pt x="75" y="72"/>
                  <a:pt x="75" y="72"/>
                  <a:pt x="75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4"/>
                  <a:pt x="80" y="54"/>
                  <a:pt x="80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72"/>
                  <a:pt x="82" y="72"/>
                  <a:pt x="82" y="72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36"/>
                  <a:pt x="87" y="36"/>
                  <a:pt x="87" y="36"/>
                </a:cubicBezTo>
                <a:cubicBezTo>
                  <a:pt x="88" y="36"/>
                  <a:pt x="88" y="36"/>
                  <a:pt x="88" y="36"/>
                </a:cubicBezTo>
                <a:cubicBezTo>
                  <a:pt x="88" y="47"/>
                  <a:pt x="88" y="47"/>
                  <a:pt x="88" y="47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31"/>
                  <a:pt x="94" y="31"/>
                  <a:pt x="94" y="31"/>
                </a:cubicBezTo>
                <a:cubicBezTo>
                  <a:pt x="94" y="28"/>
                  <a:pt x="91" y="26"/>
                  <a:pt x="88" y="26"/>
                </a:cubicBezTo>
                <a:cubicBezTo>
                  <a:pt x="77" y="26"/>
                  <a:pt x="77" y="26"/>
                  <a:pt x="77" y="26"/>
                </a:cubicBezTo>
                <a:cubicBezTo>
                  <a:pt x="77" y="27"/>
                  <a:pt x="77" y="28"/>
                  <a:pt x="77" y="28"/>
                </a:cubicBezTo>
                <a:cubicBezTo>
                  <a:pt x="77" y="51"/>
                  <a:pt x="77" y="51"/>
                  <a:pt x="77" y="51"/>
                </a:cubicBezTo>
                <a:cubicBezTo>
                  <a:pt x="75" y="51"/>
                  <a:pt x="75" y="51"/>
                  <a:pt x="75" y="51"/>
                </a:cubicBezTo>
                <a:close/>
                <a:moveTo>
                  <a:pt x="65" y="47"/>
                </a:moveTo>
                <a:cubicBezTo>
                  <a:pt x="65" y="32"/>
                  <a:pt x="65" y="32"/>
                  <a:pt x="65" y="32"/>
                </a:cubicBezTo>
                <a:cubicBezTo>
                  <a:pt x="64" y="32"/>
                  <a:pt x="64" y="32"/>
                  <a:pt x="64" y="32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77"/>
                  <a:pt x="64" y="77"/>
                  <a:pt x="64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55"/>
                  <a:pt x="57" y="55"/>
                  <a:pt x="57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77"/>
                  <a:pt x="55" y="77"/>
                  <a:pt x="55" y="77"/>
                </a:cubicBezTo>
                <a:cubicBezTo>
                  <a:pt x="48" y="77"/>
                  <a:pt x="48" y="77"/>
                  <a:pt x="48" y="77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48" y="47"/>
                  <a:pt x="48" y="47"/>
                </a:cubicBezTo>
                <a:cubicBezTo>
                  <a:pt x="48" y="32"/>
                  <a:pt x="48" y="32"/>
                  <a:pt x="48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47"/>
                  <a:pt x="47" y="47"/>
                  <a:pt x="47" y="47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4"/>
                  <a:pt x="44" y="21"/>
                  <a:pt x="47" y="21"/>
                </a:cubicBezTo>
                <a:cubicBezTo>
                  <a:pt x="66" y="21"/>
                  <a:pt x="46" y="21"/>
                  <a:pt x="65" y="21"/>
                </a:cubicBezTo>
                <a:cubicBezTo>
                  <a:pt x="69" y="21"/>
                  <a:pt x="71" y="24"/>
                  <a:pt x="71" y="27"/>
                </a:cubicBezTo>
                <a:cubicBezTo>
                  <a:pt x="71" y="47"/>
                  <a:pt x="71" y="47"/>
                  <a:pt x="71" y="47"/>
                </a:cubicBezTo>
                <a:cubicBezTo>
                  <a:pt x="70" y="47"/>
                  <a:pt x="68" y="47"/>
                  <a:pt x="65" y="47"/>
                </a:cubicBezTo>
                <a:close/>
                <a:moveTo>
                  <a:pt x="37" y="51"/>
                </a:moveTo>
                <a:cubicBezTo>
                  <a:pt x="37" y="72"/>
                  <a:pt x="37" y="72"/>
                  <a:pt x="37" y="72"/>
                </a:cubicBezTo>
                <a:cubicBezTo>
                  <a:pt x="31" y="72"/>
                  <a:pt x="31" y="72"/>
                  <a:pt x="31" y="72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72"/>
                  <a:pt x="30" y="72"/>
                  <a:pt x="30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51"/>
                  <a:pt x="24" y="51"/>
                  <a:pt x="24" y="51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6"/>
                  <a:pt x="24" y="36"/>
                  <a:pt x="24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" y="47"/>
                  <a:pt x="23" y="47"/>
                  <a:pt x="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20" y="26"/>
                  <a:pt x="23" y="26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7"/>
                  <a:pt x="35" y="28"/>
                  <a:pt x="35" y="28"/>
                </a:cubicBezTo>
                <a:cubicBezTo>
                  <a:pt x="35" y="51"/>
                  <a:pt x="35" y="51"/>
                  <a:pt x="35" y="51"/>
                </a:cubicBezTo>
                <a:cubicBezTo>
                  <a:pt x="37" y="51"/>
                  <a:pt x="37" y="51"/>
                  <a:pt x="37" y="51"/>
                </a:cubicBezTo>
                <a:close/>
                <a:moveTo>
                  <a:pt x="31" y="9"/>
                </a:moveTo>
                <a:cubicBezTo>
                  <a:pt x="35" y="9"/>
                  <a:pt x="39" y="12"/>
                  <a:pt x="39" y="17"/>
                </a:cubicBezTo>
                <a:cubicBezTo>
                  <a:pt x="39" y="19"/>
                  <a:pt x="38" y="20"/>
                  <a:pt x="37" y="22"/>
                </a:cubicBezTo>
                <a:cubicBezTo>
                  <a:pt x="37" y="22"/>
                  <a:pt x="37" y="22"/>
                  <a:pt x="37" y="23"/>
                </a:cubicBezTo>
                <a:cubicBezTo>
                  <a:pt x="35" y="24"/>
                  <a:pt x="33" y="25"/>
                  <a:pt x="31" y="25"/>
                </a:cubicBezTo>
                <a:cubicBezTo>
                  <a:pt x="26" y="25"/>
                  <a:pt x="22" y="21"/>
                  <a:pt x="22" y="17"/>
                </a:cubicBezTo>
                <a:cubicBezTo>
                  <a:pt x="22" y="12"/>
                  <a:pt x="26" y="9"/>
                  <a:pt x="31" y="9"/>
                </a:cubicBezTo>
                <a:close/>
                <a:moveTo>
                  <a:pt x="81" y="9"/>
                </a:moveTo>
                <a:cubicBezTo>
                  <a:pt x="76" y="9"/>
                  <a:pt x="73" y="12"/>
                  <a:pt x="73" y="17"/>
                </a:cubicBezTo>
                <a:cubicBezTo>
                  <a:pt x="73" y="19"/>
                  <a:pt x="73" y="20"/>
                  <a:pt x="74" y="22"/>
                </a:cubicBezTo>
                <a:cubicBezTo>
                  <a:pt x="75" y="22"/>
                  <a:pt x="75" y="22"/>
                  <a:pt x="75" y="23"/>
                </a:cubicBezTo>
                <a:cubicBezTo>
                  <a:pt x="77" y="24"/>
                  <a:pt x="79" y="25"/>
                  <a:pt x="81" y="25"/>
                </a:cubicBezTo>
                <a:cubicBezTo>
                  <a:pt x="85" y="25"/>
                  <a:pt x="89" y="21"/>
                  <a:pt x="89" y="17"/>
                </a:cubicBezTo>
                <a:cubicBezTo>
                  <a:pt x="89" y="12"/>
                  <a:pt x="85" y="9"/>
                  <a:pt x="81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sz="1012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5F03971-0924-DD64-23EB-D1C9D3EA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这阶段课程适合谁学习？</a:t>
            </a:r>
          </a:p>
        </p:txBody>
      </p:sp>
    </p:spTree>
    <p:extLst>
      <p:ext uri="{BB962C8B-B14F-4D97-AF65-F5344CB8AC3E}">
        <p14:creationId xmlns:p14="http://schemas.microsoft.com/office/powerpoint/2010/main" val="820372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5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/>
      <p:bldP spid="22" grpId="0" animBg="1"/>
      <p:bldP spid="59" grpId="0" animBg="1"/>
      <p:bldP spid="69" grpId="0"/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363447" y="2136102"/>
            <a:ext cx="1918965" cy="2391873"/>
            <a:chOff x="2285732" y="3716686"/>
            <a:chExt cx="2763946" cy="3446339"/>
          </a:xfrm>
        </p:grpSpPr>
        <p:grpSp>
          <p:nvGrpSpPr>
            <p:cNvPr id="14" name="组合 13"/>
            <p:cNvGrpSpPr/>
            <p:nvPr/>
          </p:nvGrpSpPr>
          <p:grpSpPr>
            <a:xfrm>
              <a:off x="2285732" y="3716686"/>
              <a:ext cx="2763946" cy="3446339"/>
              <a:chOff x="3295850" y="1908877"/>
              <a:chExt cx="3738030" cy="4660916"/>
            </a:xfrm>
          </p:grpSpPr>
          <p:sp>
            <p:nvSpPr>
              <p:cNvPr id="18" name="圆角矩形 17"/>
              <p:cNvSpPr/>
              <p:nvPr/>
            </p:nvSpPr>
            <p:spPr>
              <a:xfrm rot="2760000">
                <a:off x="3098889" y="2634801"/>
                <a:ext cx="4660916" cy="32090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 rot="2760000">
                <a:off x="3358628" y="2852802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728219" y="4347491"/>
              <a:ext cx="1068358" cy="962347"/>
              <a:chOff x="2711519" y="4342226"/>
              <a:chExt cx="1068358" cy="962347"/>
            </a:xfrm>
          </p:grpSpPr>
          <p:sp>
            <p:nvSpPr>
              <p:cNvPr id="16" name="文本框 26"/>
              <p:cNvSpPr txBox="1"/>
              <p:nvPr/>
            </p:nvSpPr>
            <p:spPr>
              <a:xfrm>
                <a:off x="271151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7" name="文本框 27"/>
              <p:cNvSpPr txBox="1"/>
              <p:nvPr/>
            </p:nvSpPr>
            <p:spPr>
              <a:xfrm>
                <a:off x="2738816" y="4957033"/>
                <a:ext cx="1041061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5500581" y="4129728"/>
            <a:ext cx="1912352" cy="2391873"/>
            <a:chOff x="3885937" y="2769115"/>
            <a:chExt cx="2754422" cy="3446339"/>
          </a:xfrm>
        </p:grpSpPr>
        <p:grpSp>
          <p:nvGrpSpPr>
            <p:cNvPr id="25" name="组合 24"/>
            <p:cNvGrpSpPr/>
            <p:nvPr/>
          </p:nvGrpSpPr>
          <p:grpSpPr>
            <a:xfrm>
              <a:off x="3885937" y="2769115"/>
              <a:ext cx="2754422" cy="3446339"/>
              <a:chOff x="3295850" y="1895995"/>
              <a:chExt cx="3725149" cy="4660916"/>
            </a:xfrm>
          </p:grpSpPr>
          <p:sp>
            <p:nvSpPr>
              <p:cNvPr id="29" name="圆角矩形 28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2760000">
                <a:off x="3384391" y="2878566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352303" y="3414855"/>
              <a:ext cx="1045498" cy="962350"/>
              <a:chOff x="2734379" y="4342226"/>
              <a:chExt cx="1045498" cy="962350"/>
            </a:xfrm>
          </p:grpSpPr>
          <p:sp>
            <p:nvSpPr>
              <p:cNvPr id="27" name="文本框 32"/>
              <p:cNvSpPr txBox="1"/>
              <p:nvPr/>
            </p:nvSpPr>
            <p:spPr>
              <a:xfrm>
                <a:off x="2734379" y="4342226"/>
                <a:ext cx="1031437" cy="776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03</a:t>
                </a:r>
                <a:endParaRPr lang="zh-CN" altLang="en-US" sz="32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8" name="文本框 33"/>
              <p:cNvSpPr txBox="1"/>
              <p:nvPr/>
            </p:nvSpPr>
            <p:spPr>
              <a:xfrm>
                <a:off x="2738817" y="4957036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STEP</a:t>
                </a:r>
                <a:endParaRPr lang="zh-CN" altLang="en-US" sz="11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706172" y="2185935"/>
            <a:ext cx="1912352" cy="2391873"/>
            <a:chOff x="5489223" y="1837839"/>
            <a:chExt cx="2754422" cy="3446339"/>
          </a:xfrm>
        </p:grpSpPr>
        <p:grpSp>
          <p:nvGrpSpPr>
            <p:cNvPr id="39" name="组合 38"/>
            <p:cNvGrpSpPr/>
            <p:nvPr/>
          </p:nvGrpSpPr>
          <p:grpSpPr>
            <a:xfrm>
              <a:off x="5489223" y="1837839"/>
              <a:ext cx="2754422" cy="3446339"/>
              <a:chOff x="3295850" y="1895995"/>
              <a:chExt cx="3725149" cy="4660916"/>
            </a:xfrm>
          </p:grpSpPr>
          <p:sp>
            <p:nvSpPr>
              <p:cNvPr id="43" name="圆角矩形 42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5937544" y="2483578"/>
              <a:ext cx="1045498" cy="962347"/>
              <a:chOff x="2734379" y="4342226"/>
              <a:chExt cx="1045498" cy="962347"/>
            </a:xfrm>
          </p:grpSpPr>
          <p:sp>
            <p:nvSpPr>
              <p:cNvPr id="41" name="文本框 35"/>
              <p:cNvSpPr txBox="1"/>
              <p:nvPr/>
            </p:nvSpPr>
            <p:spPr>
              <a:xfrm>
                <a:off x="273437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42" name="文本框 36"/>
              <p:cNvSpPr txBox="1"/>
              <p:nvPr/>
            </p:nvSpPr>
            <p:spPr>
              <a:xfrm>
                <a:off x="2738817" y="4957033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 flipV="1">
            <a:off x="7773175" y="1645240"/>
            <a:ext cx="2439004" cy="732306"/>
            <a:chOff x="5246304" y="4593021"/>
            <a:chExt cx="2438687" cy="732476"/>
          </a:xfrm>
        </p:grpSpPr>
        <p:sp>
          <p:nvSpPr>
            <p:cNvPr id="58" name="椭圆 57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 flipH="1" flipV="1">
            <a:off x="2264483" y="1642539"/>
            <a:ext cx="2439004" cy="732306"/>
            <a:chOff x="5246304" y="4593021"/>
            <a:chExt cx="2438687" cy="732476"/>
          </a:xfrm>
        </p:grpSpPr>
        <p:sp>
          <p:nvSpPr>
            <p:cNvPr id="61" name="椭圆 60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 flipH="1">
            <a:off x="3066863" y="4825063"/>
            <a:ext cx="2439004" cy="732306"/>
            <a:chOff x="5246304" y="4593021"/>
            <a:chExt cx="2438687" cy="732476"/>
          </a:xfrm>
        </p:grpSpPr>
        <p:sp>
          <p:nvSpPr>
            <p:cNvPr id="84" name="椭圆 83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019E51E-2F21-DA44-8762-C9ACF144F7C7}"/>
              </a:ext>
            </a:extLst>
          </p:cNvPr>
          <p:cNvSpPr txBox="1"/>
          <p:nvPr/>
        </p:nvSpPr>
        <p:spPr>
          <a:xfrm>
            <a:off x="1559527" y="4773243"/>
            <a:ext cx="344092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b="1" spc="600" dirty="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学完后会有什么收获？</a:t>
            </a:r>
            <a:endParaRPr lang="en-US" altLang="zh-CN" b="1" spc="600" dirty="0">
              <a:solidFill>
                <a:srgbClr val="0331C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DB710DA-C707-1716-D556-1007CA876D27}"/>
              </a:ext>
            </a:extLst>
          </p:cNvPr>
          <p:cNvSpPr/>
          <p:nvPr/>
        </p:nvSpPr>
        <p:spPr>
          <a:xfrm>
            <a:off x="5717595" y="3132165"/>
            <a:ext cx="986638" cy="1011716"/>
          </a:xfrm>
          <a:prstGeom prst="ellipse">
            <a:avLst/>
          </a:prstGeom>
          <a:solidFill>
            <a:srgbClr val="0068B7"/>
          </a:solidFill>
          <a:ln w="19050">
            <a:gradFill flip="none" rotWithShape="1">
              <a:gsLst>
                <a:gs pos="0">
                  <a:schemeClr val="bg1">
                    <a:lumMod val="60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270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EC57E4F-7F3D-366D-0046-47C7BA9656C5}"/>
              </a:ext>
            </a:extLst>
          </p:cNvPr>
          <p:cNvSpPr>
            <a:spLocks/>
          </p:cNvSpPr>
          <p:nvPr/>
        </p:nvSpPr>
        <p:spPr bwMode="auto">
          <a:xfrm>
            <a:off x="6102426" y="3291929"/>
            <a:ext cx="222871" cy="199817"/>
          </a:xfrm>
          <a:custGeom>
            <a:avLst/>
            <a:gdLst>
              <a:gd name="T0" fmla="*/ 5 w 11"/>
              <a:gd name="T1" fmla="*/ 10 h 10"/>
              <a:gd name="T2" fmla="*/ 5 w 11"/>
              <a:gd name="T3" fmla="*/ 10 h 10"/>
              <a:gd name="T4" fmla="*/ 11 w 11"/>
              <a:gd name="T5" fmla="*/ 5 h 10"/>
              <a:gd name="T6" fmla="*/ 5 w 11"/>
              <a:gd name="T7" fmla="*/ 0 h 10"/>
              <a:gd name="T8" fmla="*/ 5 w 11"/>
              <a:gd name="T9" fmla="*/ 0 h 10"/>
              <a:gd name="T10" fmla="*/ 0 w 11"/>
              <a:gd name="T11" fmla="*/ 5 h 10"/>
              <a:gd name="T12" fmla="*/ 5 w 11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0">
                <a:moveTo>
                  <a:pt x="5" y="10"/>
                </a:moveTo>
                <a:cubicBezTo>
                  <a:pt x="5" y="10"/>
                  <a:pt x="5" y="10"/>
                  <a:pt x="5" y="10"/>
                </a:cubicBezTo>
                <a:cubicBezTo>
                  <a:pt x="8" y="10"/>
                  <a:pt x="11" y="8"/>
                  <a:pt x="11" y="5"/>
                </a:cubicBezTo>
                <a:cubicBezTo>
                  <a:pt x="11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1"/>
                  <a:pt x="0" y="3"/>
                  <a:pt x="0" y="5"/>
                </a:cubicBezTo>
                <a:cubicBezTo>
                  <a:pt x="0" y="8"/>
                  <a:pt x="2" y="10"/>
                  <a:pt x="5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DA969CB2-DB92-67BA-B8FB-79434154EC7B}"/>
              </a:ext>
            </a:extLst>
          </p:cNvPr>
          <p:cNvSpPr>
            <a:spLocks/>
          </p:cNvSpPr>
          <p:nvPr/>
        </p:nvSpPr>
        <p:spPr bwMode="auto">
          <a:xfrm>
            <a:off x="5949139" y="3530679"/>
            <a:ext cx="491855" cy="322781"/>
          </a:xfrm>
          <a:custGeom>
            <a:avLst/>
            <a:gdLst>
              <a:gd name="T0" fmla="*/ 23 w 24"/>
              <a:gd name="T1" fmla="*/ 3 h 16"/>
              <a:gd name="T2" fmla="*/ 19 w 24"/>
              <a:gd name="T3" fmla="*/ 0 h 16"/>
              <a:gd name="T4" fmla="*/ 19 w 24"/>
              <a:gd name="T5" fmla="*/ 0 h 16"/>
              <a:gd name="T6" fmla="*/ 17 w 24"/>
              <a:gd name="T7" fmla="*/ 0 h 16"/>
              <a:gd name="T8" fmla="*/ 15 w 24"/>
              <a:gd name="T9" fmla="*/ 5 h 16"/>
              <a:gd name="T10" fmla="*/ 12 w 24"/>
              <a:gd name="T11" fmla="*/ 11 h 16"/>
              <a:gd name="T12" fmla="*/ 14 w 24"/>
              <a:gd name="T13" fmla="*/ 7 h 16"/>
              <a:gd name="T14" fmla="*/ 13 w 24"/>
              <a:gd name="T15" fmla="*/ 1 h 16"/>
              <a:gd name="T16" fmla="*/ 13 w 24"/>
              <a:gd name="T17" fmla="*/ 1 h 16"/>
              <a:gd name="T18" fmla="*/ 12 w 24"/>
              <a:gd name="T19" fmla="*/ 0 h 16"/>
              <a:gd name="T20" fmla="*/ 12 w 24"/>
              <a:gd name="T21" fmla="*/ 0 h 16"/>
              <a:gd name="T22" fmla="*/ 12 w 24"/>
              <a:gd name="T23" fmla="*/ 1 h 16"/>
              <a:gd name="T24" fmla="*/ 12 w 24"/>
              <a:gd name="T25" fmla="*/ 1 h 16"/>
              <a:gd name="T26" fmla="*/ 11 w 24"/>
              <a:gd name="T27" fmla="*/ 7 h 16"/>
              <a:gd name="T28" fmla="*/ 10 w 24"/>
              <a:gd name="T29" fmla="*/ 5 h 16"/>
              <a:gd name="T30" fmla="*/ 8 w 24"/>
              <a:gd name="T31" fmla="*/ 0 h 16"/>
              <a:gd name="T32" fmla="*/ 5 w 24"/>
              <a:gd name="T33" fmla="*/ 0 h 16"/>
              <a:gd name="T34" fmla="*/ 5 w 24"/>
              <a:gd name="T35" fmla="*/ 0 h 16"/>
              <a:gd name="T36" fmla="*/ 1 w 24"/>
              <a:gd name="T37" fmla="*/ 3 h 16"/>
              <a:gd name="T38" fmla="*/ 0 w 24"/>
              <a:gd name="T39" fmla="*/ 16 h 16"/>
              <a:gd name="T40" fmla="*/ 4 w 24"/>
              <a:gd name="T41" fmla="*/ 16 h 16"/>
              <a:gd name="T42" fmla="*/ 4 w 24"/>
              <a:gd name="T43" fmla="*/ 6 h 16"/>
              <a:gd name="T44" fmla="*/ 5 w 24"/>
              <a:gd name="T45" fmla="*/ 6 h 16"/>
              <a:gd name="T46" fmla="*/ 5 w 24"/>
              <a:gd name="T47" fmla="*/ 16 h 16"/>
              <a:gd name="T48" fmla="*/ 12 w 24"/>
              <a:gd name="T49" fmla="*/ 16 h 16"/>
              <a:gd name="T50" fmla="*/ 19 w 24"/>
              <a:gd name="T51" fmla="*/ 16 h 16"/>
              <a:gd name="T52" fmla="*/ 19 w 24"/>
              <a:gd name="T53" fmla="*/ 6 h 16"/>
              <a:gd name="T54" fmla="*/ 19 w 24"/>
              <a:gd name="T55" fmla="*/ 6 h 16"/>
              <a:gd name="T56" fmla="*/ 20 w 24"/>
              <a:gd name="T57" fmla="*/ 6 h 16"/>
              <a:gd name="T58" fmla="*/ 20 w 24"/>
              <a:gd name="T59" fmla="*/ 16 h 16"/>
              <a:gd name="T60" fmla="*/ 23 w 24"/>
              <a:gd name="T61" fmla="*/ 16 h 16"/>
              <a:gd name="T62" fmla="*/ 23 w 24"/>
              <a:gd name="T63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16">
                <a:moveTo>
                  <a:pt x="23" y="3"/>
                </a:moveTo>
                <a:cubicBezTo>
                  <a:pt x="22" y="1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2" y="11"/>
                  <a:pt x="12" y="11"/>
                  <a:pt x="12" y="11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5"/>
                  <a:pt x="0" y="11"/>
                  <a:pt x="0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16"/>
                  <a:pt x="20" y="16"/>
                  <a:pt x="2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1"/>
                  <a:pt x="24" y="5"/>
                  <a:pt x="23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44EF84-06F4-340D-EDE2-350B5C1324AB}"/>
              </a:ext>
            </a:extLst>
          </p:cNvPr>
          <p:cNvSpPr txBox="1"/>
          <p:nvPr/>
        </p:nvSpPr>
        <p:spPr>
          <a:xfrm>
            <a:off x="1152085" y="1696443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这阶段课程适合谁学？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A5177-F5F9-4F21-DFB7-E58021597DDB}"/>
              </a:ext>
            </a:extLst>
          </p:cNvPr>
          <p:cNvSpPr txBox="1"/>
          <p:nvPr/>
        </p:nvSpPr>
        <p:spPr>
          <a:xfrm>
            <a:off x="8472279" y="1753462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6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课程安排是啥？</a:t>
            </a:r>
            <a:endParaRPr lang="en-US" altLang="zh-CN" b="1" spc="60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32B5A3-A281-E1EF-167C-64089A7B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085" y="2451461"/>
            <a:ext cx="608093" cy="7053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69268FF-723F-1873-F47A-1CE1C3C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JavaSE</a:t>
            </a:r>
            <a:r>
              <a:rPr lang="zh-CN" altLang="en-US" dirty="0"/>
              <a:t>基础加强课程介绍</a:t>
            </a:r>
          </a:p>
        </p:txBody>
      </p:sp>
    </p:spTree>
    <p:extLst>
      <p:ext uri="{BB962C8B-B14F-4D97-AF65-F5344CB8AC3E}">
        <p14:creationId xmlns:p14="http://schemas.microsoft.com/office/powerpoint/2010/main" val="1428926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3" grpId="0" animBg="1"/>
      <p:bldP spid="4" grpId="0" animBg="1"/>
      <p:bldP spid="5" grpId="0" animBg="1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F14F592C-8CFC-53AA-3A1C-3A6DDFF2AD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6290" y="30819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9331F9DE-972C-A39E-A218-A2ECDFCD0E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98690" y="32343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!!!collection">
            <a:extLst>
              <a:ext uri="{FF2B5EF4-FFF2-40B4-BE49-F238E27FC236}">
                <a16:creationId xmlns:a16="http://schemas.microsoft.com/office/drawing/2014/main" id="{ABB65784-6DB6-0EAE-17F8-532E37261B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3068" y="1201425"/>
            <a:ext cx="3143641" cy="428052"/>
          </a:xfrm>
          <a:prstGeom prst="roundRect">
            <a:avLst>
              <a:gd name="adj" fmla="val 24210"/>
            </a:avLst>
          </a:prstGeom>
          <a:solidFill>
            <a:srgbClr val="0331C4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lvl="0" algn="ctr"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基础阶段</a:t>
            </a:r>
            <a:r>
              <a:rPr lang="en-US" altLang="zh-CN" sz="1600" b="1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9</a:t>
            </a:r>
            <a:r>
              <a:rPr lang="zh-CN" altLang="en-US" sz="1600" b="1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天，基础加强</a:t>
            </a:r>
            <a:r>
              <a:rPr lang="en-US" altLang="zh-CN" sz="1600" b="1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6</a:t>
            </a:r>
            <a:r>
              <a:rPr lang="zh-CN" altLang="en-US" sz="1600" b="1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天课程</a:t>
            </a:r>
            <a:endParaRPr lang="en-US" altLang="zh-CN" sz="1600" b="1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A311188-0447-5AF6-0450-6EECFBBAB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15897" y="1261052"/>
            <a:ext cx="1986116" cy="165067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46AE0C7-0368-64DE-AC6E-A0D106F9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JavaSE</a:t>
            </a:r>
            <a:r>
              <a:rPr lang="zh-CN" altLang="en-US" dirty="0"/>
              <a:t>基础加强课程安排</a:t>
            </a:r>
          </a:p>
        </p:txBody>
      </p:sp>
      <p:sp>
        <p:nvSpPr>
          <p:cNvPr id="24" name="圆角矩形 5">
            <a:extLst>
              <a:ext uri="{FF2B5EF4-FFF2-40B4-BE49-F238E27FC236}">
                <a16:creationId xmlns:a16="http://schemas.microsoft.com/office/drawing/2014/main" id="{854B26D3-A119-44F5-AEA4-6059C8542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68" y="3049080"/>
            <a:ext cx="3001142" cy="400110"/>
          </a:xfrm>
          <a:prstGeom prst="roundRect">
            <a:avLst>
              <a:gd name="adj" fmla="val 16667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day03-File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、字符集、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流框架</a:t>
            </a:r>
          </a:p>
        </p:txBody>
      </p:sp>
      <p:sp>
        <p:nvSpPr>
          <p:cNvPr id="34" name="圆角矩形 5">
            <a:extLst>
              <a:ext uri="{FF2B5EF4-FFF2-40B4-BE49-F238E27FC236}">
                <a16:creationId xmlns:a16="http://schemas.microsoft.com/office/drawing/2014/main" id="{EBD03A65-2DFA-46E7-9661-E29944FB8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68" y="4178056"/>
            <a:ext cx="3001142" cy="355964"/>
          </a:xfrm>
          <a:prstGeom prst="roundRect">
            <a:avLst>
              <a:gd name="adj" fmla="val 16667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day05-</a:t>
            </a:r>
            <a:r>
              <a:rPr lang="zh-CN" altLang="en-US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网络编程、综合项目</a:t>
            </a:r>
          </a:p>
        </p:txBody>
      </p:sp>
      <p:sp>
        <p:nvSpPr>
          <p:cNvPr id="37" name="圆角矩形 5">
            <a:extLst>
              <a:ext uri="{FF2B5EF4-FFF2-40B4-BE49-F238E27FC236}">
                <a16:creationId xmlns:a16="http://schemas.microsoft.com/office/drawing/2014/main" id="{0EDA17CA-D2EB-4B3C-8986-7B18B0E31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53" y="3625046"/>
            <a:ext cx="3001142" cy="337621"/>
          </a:xfrm>
          <a:prstGeom prst="roundRect">
            <a:avLst>
              <a:gd name="adj" fmla="val 16667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day04-</a:t>
            </a:r>
            <a:r>
              <a:rPr lang="zh-CN" altLang="en-US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多线程</a:t>
            </a:r>
          </a:p>
        </p:txBody>
      </p:sp>
      <p:sp>
        <p:nvSpPr>
          <p:cNvPr id="40" name="圆角矩形 5">
            <a:extLst>
              <a:ext uri="{FF2B5EF4-FFF2-40B4-BE49-F238E27FC236}">
                <a16:creationId xmlns:a16="http://schemas.microsoft.com/office/drawing/2014/main" id="{EC7770FF-6462-46DC-A497-1FFDFD1DC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332" y="4749409"/>
            <a:ext cx="3010983" cy="402822"/>
          </a:xfrm>
          <a:prstGeom prst="roundRect">
            <a:avLst>
              <a:gd name="adj" fmla="val 16667"/>
            </a:avLst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day06-Java</a:t>
            </a:r>
            <a:r>
              <a:rPr lang="zh-CN" altLang="en-US" sz="1400" b="1" dirty="0">
                <a:solidFill>
                  <a:schemeClr val="dk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高级技术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773688-811F-4122-BFA4-277940F66F97}"/>
              </a:ext>
            </a:extLst>
          </p:cNvPr>
          <p:cNvSpPr/>
          <p:nvPr/>
        </p:nvSpPr>
        <p:spPr>
          <a:xfrm>
            <a:off x="663068" y="2511612"/>
            <a:ext cx="3001142" cy="400110"/>
          </a:xfrm>
          <a:prstGeom prst="roundRect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day02-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集合框架、</a:t>
            </a:r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</a:t>
            </a: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71CA9F99-FAA7-4E50-BBBA-5F7331AB1BFA}"/>
              </a:ext>
            </a:extLst>
          </p:cNvPr>
          <p:cNvSpPr/>
          <p:nvPr/>
        </p:nvSpPr>
        <p:spPr>
          <a:xfrm>
            <a:off x="673683" y="2007226"/>
            <a:ext cx="2990528" cy="400110"/>
          </a:xfrm>
          <a:prstGeom prst="roundRect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day01-</a:t>
            </a:r>
            <a:r>
              <a:rPr lang="zh-CN" altLang="en-US" sz="14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异常、泛型、集合框架</a:t>
            </a:r>
          </a:p>
        </p:txBody>
      </p:sp>
    </p:spTree>
    <p:extLst>
      <p:ext uri="{BB962C8B-B14F-4D97-AF65-F5344CB8AC3E}">
        <p14:creationId xmlns:p14="http://schemas.microsoft.com/office/powerpoint/2010/main" val="3395380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24" grpId="0" animBg="1"/>
      <p:bldP spid="34" grpId="0" animBg="1"/>
      <p:bldP spid="37" grpId="0" animBg="1"/>
      <p:bldP spid="40" grpId="0" animBg="1"/>
      <p:bldP spid="7" grpId="0" animBg="1"/>
      <p:bldP spid="1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4363447" y="2136102"/>
            <a:ext cx="1918965" cy="2391873"/>
            <a:chOff x="2285732" y="3716686"/>
            <a:chExt cx="2763946" cy="3446339"/>
          </a:xfrm>
        </p:grpSpPr>
        <p:grpSp>
          <p:nvGrpSpPr>
            <p:cNvPr id="14" name="组合 13"/>
            <p:cNvGrpSpPr/>
            <p:nvPr/>
          </p:nvGrpSpPr>
          <p:grpSpPr>
            <a:xfrm>
              <a:off x="2285732" y="3716686"/>
              <a:ext cx="2763946" cy="3446339"/>
              <a:chOff x="3295850" y="1908877"/>
              <a:chExt cx="3738030" cy="4660916"/>
            </a:xfrm>
          </p:grpSpPr>
          <p:sp>
            <p:nvSpPr>
              <p:cNvPr id="18" name="圆角矩形 17"/>
              <p:cNvSpPr/>
              <p:nvPr/>
            </p:nvSpPr>
            <p:spPr>
              <a:xfrm rot="2760000">
                <a:off x="3098889" y="2634801"/>
                <a:ext cx="4660916" cy="32090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 rot="2760000">
                <a:off x="3358628" y="2852802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728219" y="4347491"/>
              <a:ext cx="1068358" cy="962347"/>
              <a:chOff x="2711519" y="4342226"/>
              <a:chExt cx="1068358" cy="962347"/>
            </a:xfrm>
          </p:grpSpPr>
          <p:sp>
            <p:nvSpPr>
              <p:cNvPr id="16" name="文本框 26"/>
              <p:cNvSpPr txBox="1"/>
              <p:nvPr/>
            </p:nvSpPr>
            <p:spPr>
              <a:xfrm>
                <a:off x="271151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7" name="文本框 27"/>
              <p:cNvSpPr txBox="1"/>
              <p:nvPr/>
            </p:nvSpPr>
            <p:spPr>
              <a:xfrm>
                <a:off x="2738816" y="4957033"/>
                <a:ext cx="1041061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5500581" y="4129728"/>
            <a:ext cx="1912352" cy="2391873"/>
            <a:chOff x="3885937" y="2769115"/>
            <a:chExt cx="2754422" cy="3446339"/>
          </a:xfrm>
        </p:grpSpPr>
        <p:grpSp>
          <p:nvGrpSpPr>
            <p:cNvPr id="25" name="组合 24"/>
            <p:cNvGrpSpPr/>
            <p:nvPr/>
          </p:nvGrpSpPr>
          <p:grpSpPr>
            <a:xfrm>
              <a:off x="3885937" y="2769115"/>
              <a:ext cx="2754422" cy="3446339"/>
              <a:chOff x="3295850" y="1895995"/>
              <a:chExt cx="3725149" cy="4660916"/>
            </a:xfrm>
          </p:grpSpPr>
          <p:sp>
            <p:nvSpPr>
              <p:cNvPr id="29" name="圆角矩形 28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2760000">
                <a:off x="3384391" y="2878566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="1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3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 b="1">
                  <a:solidFill>
                    <a:prstClr val="blac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352303" y="3414855"/>
              <a:ext cx="1045498" cy="962350"/>
              <a:chOff x="2734379" y="4342226"/>
              <a:chExt cx="1045498" cy="962350"/>
            </a:xfrm>
          </p:grpSpPr>
          <p:sp>
            <p:nvSpPr>
              <p:cNvPr id="27" name="文本框 32"/>
              <p:cNvSpPr txBox="1"/>
              <p:nvPr/>
            </p:nvSpPr>
            <p:spPr>
              <a:xfrm>
                <a:off x="2734379" y="4342226"/>
                <a:ext cx="1031437" cy="776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03</a:t>
                </a:r>
                <a:endParaRPr lang="zh-CN" altLang="en-US" sz="32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8" name="文本框 33"/>
              <p:cNvSpPr txBox="1"/>
              <p:nvPr/>
            </p:nvSpPr>
            <p:spPr>
              <a:xfrm>
                <a:off x="2738817" y="4957036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b="1" dirty="0">
                    <a:solidFill>
                      <a:prstClr val="white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STEP</a:t>
                </a:r>
                <a:endParaRPr lang="zh-CN" altLang="en-US" sz="1100" b="1" dirty="0">
                  <a:solidFill>
                    <a:prstClr val="whit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6706172" y="2185935"/>
            <a:ext cx="1912352" cy="2391873"/>
            <a:chOff x="5489223" y="1837839"/>
            <a:chExt cx="2754422" cy="3446339"/>
          </a:xfrm>
        </p:grpSpPr>
        <p:grpSp>
          <p:nvGrpSpPr>
            <p:cNvPr id="39" name="组合 38"/>
            <p:cNvGrpSpPr/>
            <p:nvPr/>
          </p:nvGrpSpPr>
          <p:grpSpPr>
            <a:xfrm>
              <a:off x="5489223" y="1837839"/>
              <a:ext cx="2754422" cy="3446339"/>
              <a:chOff x="3295850" y="1895995"/>
              <a:chExt cx="3725149" cy="4660916"/>
            </a:xfrm>
          </p:grpSpPr>
          <p:sp>
            <p:nvSpPr>
              <p:cNvPr id="43" name="圆角矩形 42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Freeform 5"/>
              <p:cNvSpPr>
                <a:spLocks/>
              </p:cNvSpPr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圆角矩形 45"/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Freeform 5"/>
              <p:cNvSpPr>
                <a:spLocks/>
              </p:cNvSpPr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068B7">
                      <a:shade val="30000"/>
                      <a:satMod val="115000"/>
                    </a:srgbClr>
                  </a:gs>
                  <a:gs pos="50000">
                    <a:srgbClr val="0068B7">
                      <a:shade val="67500"/>
                      <a:satMod val="115000"/>
                    </a:srgbClr>
                  </a:gs>
                  <a:gs pos="100000">
                    <a:srgbClr val="0068B7">
                      <a:shade val="100000"/>
                      <a:satMod val="11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25400">
                <a:solidFill>
                  <a:srgbClr val="0068B7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5937544" y="2483578"/>
              <a:ext cx="1045498" cy="962347"/>
              <a:chOff x="2734379" y="4342226"/>
              <a:chExt cx="1045498" cy="962347"/>
            </a:xfrm>
          </p:grpSpPr>
          <p:sp>
            <p:nvSpPr>
              <p:cNvPr id="41" name="文本框 35"/>
              <p:cNvSpPr txBox="1"/>
              <p:nvPr/>
            </p:nvSpPr>
            <p:spPr>
              <a:xfrm>
                <a:off x="2734379" y="4342226"/>
                <a:ext cx="1031437" cy="7768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prstClr val="white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3200" dirty="0">
                  <a:solidFill>
                    <a:prstClr val="white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42" name="文本框 36"/>
              <p:cNvSpPr txBox="1"/>
              <p:nvPr/>
            </p:nvSpPr>
            <p:spPr>
              <a:xfrm>
                <a:off x="2738817" y="4957033"/>
                <a:ext cx="1041060" cy="3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prstClr val="white"/>
                    </a:solidFill>
                    <a:latin typeface="时尚中黑简体" panose="01010104010101010101" pitchFamily="2" charset="-122"/>
                    <a:ea typeface="时尚中黑简体" panose="01010104010101010101" pitchFamily="2" charset="-122"/>
                  </a:rPr>
                  <a:t>STEP</a:t>
                </a:r>
                <a:endParaRPr lang="zh-CN" altLang="en-US" sz="1100" dirty="0">
                  <a:solidFill>
                    <a:prstClr val="whit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endParaRPr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 flipV="1">
            <a:off x="7773175" y="1645240"/>
            <a:ext cx="2439004" cy="732306"/>
            <a:chOff x="5246304" y="4593021"/>
            <a:chExt cx="2438687" cy="732476"/>
          </a:xfrm>
        </p:grpSpPr>
        <p:sp>
          <p:nvSpPr>
            <p:cNvPr id="58" name="椭圆 57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 flipH="1" flipV="1">
            <a:off x="2264483" y="1642539"/>
            <a:ext cx="2439004" cy="732306"/>
            <a:chOff x="5246304" y="4593021"/>
            <a:chExt cx="2438687" cy="732476"/>
          </a:xfrm>
        </p:grpSpPr>
        <p:sp>
          <p:nvSpPr>
            <p:cNvPr id="61" name="椭圆 60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 flipH="1">
            <a:off x="3066863" y="4825063"/>
            <a:ext cx="2439004" cy="732306"/>
            <a:chOff x="5246304" y="4593021"/>
            <a:chExt cx="2438687" cy="732476"/>
          </a:xfrm>
        </p:grpSpPr>
        <p:sp>
          <p:nvSpPr>
            <p:cNvPr id="84" name="椭圆 83"/>
            <p:cNvSpPr/>
            <p:nvPr/>
          </p:nvSpPr>
          <p:spPr>
            <a:xfrm>
              <a:off x="5246304" y="4593021"/>
              <a:ext cx="118623" cy="1186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5335429" y="4686869"/>
              <a:ext cx="2349562" cy="638628"/>
            </a:xfrm>
            <a:custGeom>
              <a:avLst/>
              <a:gdLst>
                <a:gd name="connsiteX0" fmla="*/ 0 w 2815771"/>
                <a:gd name="connsiteY0" fmla="*/ 0 h 638628"/>
                <a:gd name="connsiteX1" fmla="*/ 725714 w 2815771"/>
                <a:gd name="connsiteY1" fmla="*/ 638628 h 638628"/>
                <a:gd name="connsiteX2" fmla="*/ 2815771 w 2815771"/>
                <a:gd name="connsiteY2" fmla="*/ 638628 h 638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5771" h="638628">
                  <a:moveTo>
                    <a:pt x="0" y="0"/>
                  </a:moveTo>
                  <a:lnTo>
                    <a:pt x="725714" y="638628"/>
                  </a:lnTo>
                  <a:lnTo>
                    <a:pt x="2815771" y="638628"/>
                  </a:lnTo>
                </a:path>
              </a:pathLst>
            </a:cu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019E51E-2F21-DA44-8762-C9ACF144F7C7}"/>
              </a:ext>
            </a:extLst>
          </p:cNvPr>
          <p:cNvSpPr txBox="1"/>
          <p:nvPr/>
        </p:nvSpPr>
        <p:spPr>
          <a:xfrm>
            <a:off x="1559527" y="4773243"/>
            <a:ext cx="344092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b="1" spc="6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学完后会有什么收获？</a:t>
            </a:r>
            <a:endParaRPr lang="en-US" altLang="zh-CN" b="1" spc="600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DB710DA-C707-1716-D556-1007CA876D27}"/>
              </a:ext>
            </a:extLst>
          </p:cNvPr>
          <p:cNvSpPr/>
          <p:nvPr/>
        </p:nvSpPr>
        <p:spPr>
          <a:xfrm>
            <a:off x="5717595" y="3132165"/>
            <a:ext cx="986638" cy="1011716"/>
          </a:xfrm>
          <a:prstGeom prst="ellipse">
            <a:avLst/>
          </a:prstGeom>
          <a:solidFill>
            <a:srgbClr val="0068B7"/>
          </a:solidFill>
          <a:ln w="19050">
            <a:gradFill flip="none" rotWithShape="1">
              <a:gsLst>
                <a:gs pos="0">
                  <a:schemeClr val="bg1">
                    <a:lumMod val="60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27000" dist="635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EC57E4F-7F3D-366D-0046-47C7BA9656C5}"/>
              </a:ext>
            </a:extLst>
          </p:cNvPr>
          <p:cNvSpPr>
            <a:spLocks/>
          </p:cNvSpPr>
          <p:nvPr/>
        </p:nvSpPr>
        <p:spPr bwMode="auto">
          <a:xfrm>
            <a:off x="6102426" y="3291929"/>
            <a:ext cx="222871" cy="199817"/>
          </a:xfrm>
          <a:custGeom>
            <a:avLst/>
            <a:gdLst>
              <a:gd name="T0" fmla="*/ 5 w 11"/>
              <a:gd name="T1" fmla="*/ 10 h 10"/>
              <a:gd name="T2" fmla="*/ 5 w 11"/>
              <a:gd name="T3" fmla="*/ 10 h 10"/>
              <a:gd name="T4" fmla="*/ 11 w 11"/>
              <a:gd name="T5" fmla="*/ 5 h 10"/>
              <a:gd name="T6" fmla="*/ 5 w 11"/>
              <a:gd name="T7" fmla="*/ 0 h 10"/>
              <a:gd name="T8" fmla="*/ 5 w 11"/>
              <a:gd name="T9" fmla="*/ 0 h 10"/>
              <a:gd name="T10" fmla="*/ 0 w 11"/>
              <a:gd name="T11" fmla="*/ 5 h 10"/>
              <a:gd name="T12" fmla="*/ 5 w 11"/>
              <a:gd name="T1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" h="10">
                <a:moveTo>
                  <a:pt x="5" y="10"/>
                </a:moveTo>
                <a:cubicBezTo>
                  <a:pt x="5" y="10"/>
                  <a:pt x="5" y="10"/>
                  <a:pt x="5" y="10"/>
                </a:cubicBezTo>
                <a:cubicBezTo>
                  <a:pt x="8" y="10"/>
                  <a:pt x="11" y="8"/>
                  <a:pt x="11" y="5"/>
                </a:cubicBezTo>
                <a:cubicBezTo>
                  <a:pt x="11" y="2"/>
                  <a:pt x="8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1"/>
                  <a:pt x="0" y="3"/>
                  <a:pt x="0" y="5"/>
                </a:cubicBezTo>
                <a:cubicBezTo>
                  <a:pt x="0" y="8"/>
                  <a:pt x="2" y="10"/>
                  <a:pt x="5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DA969CB2-DB92-67BA-B8FB-79434154EC7B}"/>
              </a:ext>
            </a:extLst>
          </p:cNvPr>
          <p:cNvSpPr>
            <a:spLocks/>
          </p:cNvSpPr>
          <p:nvPr/>
        </p:nvSpPr>
        <p:spPr bwMode="auto">
          <a:xfrm>
            <a:off x="5949139" y="3530679"/>
            <a:ext cx="491855" cy="322781"/>
          </a:xfrm>
          <a:custGeom>
            <a:avLst/>
            <a:gdLst>
              <a:gd name="T0" fmla="*/ 23 w 24"/>
              <a:gd name="T1" fmla="*/ 3 h 16"/>
              <a:gd name="T2" fmla="*/ 19 w 24"/>
              <a:gd name="T3" fmla="*/ 0 h 16"/>
              <a:gd name="T4" fmla="*/ 19 w 24"/>
              <a:gd name="T5" fmla="*/ 0 h 16"/>
              <a:gd name="T6" fmla="*/ 17 w 24"/>
              <a:gd name="T7" fmla="*/ 0 h 16"/>
              <a:gd name="T8" fmla="*/ 15 w 24"/>
              <a:gd name="T9" fmla="*/ 5 h 16"/>
              <a:gd name="T10" fmla="*/ 12 w 24"/>
              <a:gd name="T11" fmla="*/ 11 h 16"/>
              <a:gd name="T12" fmla="*/ 14 w 24"/>
              <a:gd name="T13" fmla="*/ 7 h 16"/>
              <a:gd name="T14" fmla="*/ 13 w 24"/>
              <a:gd name="T15" fmla="*/ 1 h 16"/>
              <a:gd name="T16" fmla="*/ 13 w 24"/>
              <a:gd name="T17" fmla="*/ 1 h 16"/>
              <a:gd name="T18" fmla="*/ 12 w 24"/>
              <a:gd name="T19" fmla="*/ 0 h 16"/>
              <a:gd name="T20" fmla="*/ 12 w 24"/>
              <a:gd name="T21" fmla="*/ 0 h 16"/>
              <a:gd name="T22" fmla="*/ 12 w 24"/>
              <a:gd name="T23" fmla="*/ 1 h 16"/>
              <a:gd name="T24" fmla="*/ 12 w 24"/>
              <a:gd name="T25" fmla="*/ 1 h 16"/>
              <a:gd name="T26" fmla="*/ 11 w 24"/>
              <a:gd name="T27" fmla="*/ 7 h 16"/>
              <a:gd name="T28" fmla="*/ 10 w 24"/>
              <a:gd name="T29" fmla="*/ 5 h 16"/>
              <a:gd name="T30" fmla="*/ 8 w 24"/>
              <a:gd name="T31" fmla="*/ 0 h 16"/>
              <a:gd name="T32" fmla="*/ 5 w 24"/>
              <a:gd name="T33" fmla="*/ 0 h 16"/>
              <a:gd name="T34" fmla="*/ 5 w 24"/>
              <a:gd name="T35" fmla="*/ 0 h 16"/>
              <a:gd name="T36" fmla="*/ 1 w 24"/>
              <a:gd name="T37" fmla="*/ 3 h 16"/>
              <a:gd name="T38" fmla="*/ 0 w 24"/>
              <a:gd name="T39" fmla="*/ 16 h 16"/>
              <a:gd name="T40" fmla="*/ 4 w 24"/>
              <a:gd name="T41" fmla="*/ 16 h 16"/>
              <a:gd name="T42" fmla="*/ 4 w 24"/>
              <a:gd name="T43" fmla="*/ 6 h 16"/>
              <a:gd name="T44" fmla="*/ 5 w 24"/>
              <a:gd name="T45" fmla="*/ 6 h 16"/>
              <a:gd name="T46" fmla="*/ 5 w 24"/>
              <a:gd name="T47" fmla="*/ 16 h 16"/>
              <a:gd name="T48" fmla="*/ 12 w 24"/>
              <a:gd name="T49" fmla="*/ 16 h 16"/>
              <a:gd name="T50" fmla="*/ 19 w 24"/>
              <a:gd name="T51" fmla="*/ 16 h 16"/>
              <a:gd name="T52" fmla="*/ 19 w 24"/>
              <a:gd name="T53" fmla="*/ 6 h 16"/>
              <a:gd name="T54" fmla="*/ 19 w 24"/>
              <a:gd name="T55" fmla="*/ 6 h 16"/>
              <a:gd name="T56" fmla="*/ 20 w 24"/>
              <a:gd name="T57" fmla="*/ 6 h 16"/>
              <a:gd name="T58" fmla="*/ 20 w 24"/>
              <a:gd name="T59" fmla="*/ 16 h 16"/>
              <a:gd name="T60" fmla="*/ 23 w 24"/>
              <a:gd name="T61" fmla="*/ 16 h 16"/>
              <a:gd name="T62" fmla="*/ 23 w 24"/>
              <a:gd name="T63" fmla="*/ 3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" h="16">
                <a:moveTo>
                  <a:pt x="23" y="3"/>
                </a:moveTo>
                <a:cubicBezTo>
                  <a:pt x="22" y="1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2" y="11"/>
                  <a:pt x="12" y="11"/>
                  <a:pt x="12" y="11"/>
                </a:cubicBezTo>
                <a:cubicBezTo>
                  <a:pt x="14" y="7"/>
                  <a:pt x="14" y="7"/>
                  <a:pt x="14" y="7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0"/>
                  <a:pt x="13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1" y="7"/>
                  <a:pt x="11" y="7"/>
                  <a:pt x="11" y="7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1"/>
                  <a:pt x="1" y="3"/>
                </a:cubicBezTo>
                <a:cubicBezTo>
                  <a:pt x="0" y="5"/>
                  <a:pt x="0" y="11"/>
                  <a:pt x="0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6"/>
                  <a:pt x="5" y="16"/>
                  <a:pt x="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20" y="6"/>
                  <a:pt x="20" y="6"/>
                </a:cubicBezTo>
                <a:cubicBezTo>
                  <a:pt x="20" y="16"/>
                  <a:pt x="20" y="16"/>
                  <a:pt x="2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1"/>
                  <a:pt x="24" y="5"/>
                  <a:pt x="23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44EF84-06F4-340D-EDE2-350B5C1324AB}"/>
              </a:ext>
            </a:extLst>
          </p:cNvPr>
          <p:cNvSpPr txBox="1"/>
          <p:nvPr/>
        </p:nvSpPr>
        <p:spPr>
          <a:xfrm>
            <a:off x="1152085" y="1696443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这阶段课程适合谁学？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A5177-F5F9-4F21-DFB7-E58021597DDB}"/>
              </a:ext>
            </a:extLst>
          </p:cNvPr>
          <p:cNvSpPr txBox="1"/>
          <p:nvPr/>
        </p:nvSpPr>
        <p:spPr>
          <a:xfrm>
            <a:off x="8472279" y="1753462"/>
            <a:ext cx="2949681" cy="45890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课程安排是啥？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32B5A3-A281-E1EF-167C-64089A7B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16" y="5816214"/>
            <a:ext cx="608093" cy="7053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69268FF-723F-1873-F47A-1CE1C3C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JavaSE</a:t>
            </a:r>
            <a:r>
              <a:rPr lang="zh-CN" altLang="en-US" dirty="0"/>
              <a:t>基础加强课程介绍</a:t>
            </a:r>
          </a:p>
        </p:txBody>
      </p:sp>
    </p:spTree>
    <p:extLst>
      <p:ext uri="{BB962C8B-B14F-4D97-AF65-F5344CB8AC3E}">
        <p14:creationId xmlns:p14="http://schemas.microsoft.com/office/powerpoint/2010/main" val="5680771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3" grpId="0" animBg="1"/>
      <p:bldP spid="4" grpId="0" animBg="1"/>
      <p:bldP spid="5" grpId="0" animBg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C2E627FB-58B2-A698-E596-567417EBBA5B}"/>
              </a:ext>
            </a:extLst>
          </p:cNvPr>
          <p:cNvSpPr/>
          <p:nvPr/>
        </p:nvSpPr>
        <p:spPr>
          <a:xfrm>
            <a:off x="4772762" y="2124494"/>
            <a:ext cx="1561578" cy="1561578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25425" indent="-225425" algn="ctr" fontAlgn="base">
              <a:spcBef>
                <a:spcPct val="0"/>
              </a:spcBef>
              <a:spcAft>
                <a:spcPct val="0"/>
              </a:spcAft>
            </a:pPr>
            <a:endParaRPr lang="en-US" sz="2400" kern="0" dirty="0">
              <a:solidFill>
                <a:prstClr val="black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sp>
        <p:nvSpPr>
          <p:cNvPr id="7" name="椭圆 11">
            <a:extLst>
              <a:ext uri="{FF2B5EF4-FFF2-40B4-BE49-F238E27FC236}">
                <a16:creationId xmlns:a16="http://schemas.microsoft.com/office/drawing/2014/main" id="{34AC6A29-FB1F-FD3D-1450-05982550495E}"/>
              </a:ext>
            </a:extLst>
          </p:cNvPr>
          <p:cNvSpPr/>
          <p:nvPr/>
        </p:nvSpPr>
        <p:spPr>
          <a:xfrm>
            <a:off x="5196592" y="2488690"/>
            <a:ext cx="740329" cy="830424"/>
          </a:xfrm>
          <a:custGeom>
            <a:avLst/>
            <a:gdLst>
              <a:gd name="connsiteX0" fmla="*/ 199932 w 300038"/>
              <a:gd name="connsiteY0" fmla="*/ 273051 h 336551"/>
              <a:gd name="connsiteX1" fmla="*/ 192088 w 300038"/>
              <a:gd name="connsiteY1" fmla="*/ 280989 h 336551"/>
              <a:gd name="connsiteX2" fmla="*/ 192088 w 300038"/>
              <a:gd name="connsiteY2" fmla="*/ 306124 h 336551"/>
              <a:gd name="connsiteX3" fmla="*/ 199932 w 300038"/>
              <a:gd name="connsiteY3" fmla="*/ 312739 h 336551"/>
              <a:gd name="connsiteX4" fmla="*/ 250919 w 300038"/>
              <a:gd name="connsiteY4" fmla="*/ 312739 h 336551"/>
              <a:gd name="connsiteX5" fmla="*/ 258763 w 300038"/>
              <a:gd name="connsiteY5" fmla="*/ 306124 h 336551"/>
              <a:gd name="connsiteX6" fmla="*/ 258763 w 300038"/>
              <a:gd name="connsiteY6" fmla="*/ 280989 h 336551"/>
              <a:gd name="connsiteX7" fmla="*/ 250919 w 300038"/>
              <a:gd name="connsiteY7" fmla="*/ 273051 h 336551"/>
              <a:gd name="connsiteX8" fmla="*/ 199932 w 300038"/>
              <a:gd name="connsiteY8" fmla="*/ 273051 h 336551"/>
              <a:gd name="connsiteX9" fmla="*/ 101328 w 300038"/>
              <a:gd name="connsiteY9" fmla="*/ 196851 h 336551"/>
              <a:gd name="connsiteX10" fmla="*/ 107908 w 300038"/>
              <a:gd name="connsiteY10" fmla="*/ 196851 h 336551"/>
              <a:gd name="connsiteX11" fmla="*/ 111856 w 300038"/>
              <a:gd name="connsiteY11" fmla="*/ 202123 h 336551"/>
              <a:gd name="connsiteX12" fmla="*/ 128964 w 300038"/>
              <a:gd name="connsiteY12" fmla="*/ 248250 h 336551"/>
              <a:gd name="connsiteX13" fmla="*/ 131595 w 300038"/>
              <a:gd name="connsiteY13" fmla="*/ 239025 h 336551"/>
              <a:gd name="connsiteX14" fmla="*/ 126332 w 300038"/>
              <a:gd name="connsiteY14" fmla="*/ 225845 h 336551"/>
              <a:gd name="connsiteX15" fmla="*/ 127648 w 300038"/>
              <a:gd name="connsiteY15" fmla="*/ 217938 h 336551"/>
              <a:gd name="connsiteX16" fmla="*/ 132911 w 300038"/>
              <a:gd name="connsiteY16" fmla="*/ 215302 h 336551"/>
              <a:gd name="connsiteX17" fmla="*/ 167126 w 300038"/>
              <a:gd name="connsiteY17" fmla="*/ 215302 h 336551"/>
              <a:gd name="connsiteX18" fmla="*/ 172390 w 300038"/>
              <a:gd name="connsiteY18" fmla="*/ 217938 h 336551"/>
              <a:gd name="connsiteX19" fmla="*/ 173706 w 300038"/>
              <a:gd name="connsiteY19" fmla="*/ 225845 h 336551"/>
              <a:gd name="connsiteX20" fmla="*/ 168442 w 300038"/>
              <a:gd name="connsiteY20" fmla="*/ 239025 h 336551"/>
              <a:gd name="connsiteX21" fmla="*/ 171074 w 300038"/>
              <a:gd name="connsiteY21" fmla="*/ 248250 h 336551"/>
              <a:gd name="connsiteX22" fmla="*/ 188182 w 300038"/>
              <a:gd name="connsiteY22" fmla="*/ 202123 h 336551"/>
              <a:gd name="connsiteX23" fmla="*/ 192130 w 300038"/>
              <a:gd name="connsiteY23" fmla="*/ 196851 h 336551"/>
              <a:gd name="connsiteX24" fmla="*/ 198710 w 300038"/>
              <a:gd name="connsiteY24" fmla="*/ 196851 h 336551"/>
              <a:gd name="connsiteX25" fmla="*/ 265823 w 300038"/>
              <a:gd name="connsiteY25" fmla="*/ 224527 h 336551"/>
              <a:gd name="connsiteX26" fmla="*/ 300038 w 300038"/>
              <a:gd name="connsiteY26" fmla="*/ 274609 h 336551"/>
              <a:gd name="connsiteX27" fmla="*/ 300038 w 300038"/>
              <a:gd name="connsiteY27" fmla="*/ 328643 h 336551"/>
              <a:gd name="connsiteX28" fmla="*/ 292142 w 300038"/>
              <a:gd name="connsiteY28" fmla="*/ 336551 h 336551"/>
              <a:gd name="connsiteX29" fmla="*/ 7896 w 300038"/>
              <a:gd name="connsiteY29" fmla="*/ 336551 h 336551"/>
              <a:gd name="connsiteX30" fmla="*/ 0 w 300038"/>
              <a:gd name="connsiteY30" fmla="*/ 328643 h 336551"/>
              <a:gd name="connsiteX31" fmla="*/ 0 w 300038"/>
              <a:gd name="connsiteY31" fmla="*/ 274609 h 336551"/>
              <a:gd name="connsiteX32" fmla="*/ 34215 w 300038"/>
              <a:gd name="connsiteY32" fmla="*/ 224527 h 336551"/>
              <a:gd name="connsiteX33" fmla="*/ 101328 w 300038"/>
              <a:gd name="connsiteY33" fmla="*/ 196851 h 336551"/>
              <a:gd name="connsiteX34" fmla="*/ 155328 w 300038"/>
              <a:gd name="connsiteY34" fmla="*/ 0 h 336551"/>
              <a:gd name="connsiteX35" fmla="*/ 201775 w 300038"/>
              <a:gd name="connsiteY35" fmla="*/ 15854 h 336551"/>
              <a:gd name="connsiteX36" fmla="*/ 223008 w 300038"/>
              <a:gd name="connsiteY36" fmla="*/ 79268 h 336551"/>
              <a:gd name="connsiteX37" fmla="*/ 224335 w 300038"/>
              <a:gd name="connsiteY37" fmla="*/ 93801 h 336551"/>
              <a:gd name="connsiteX38" fmla="*/ 229643 w 300038"/>
              <a:gd name="connsiteY38" fmla="*/ 100407 h 336551"/>
              <a:gd name="connsiteX39" fmla="*/ 232297 w 300038"/>
              <a:gd name="connsiteY39" fmla="*/ 125508 h 336551"/>
              <a:gd name="connsiteX40" fmla="*/ 208410 w 300038"/>
              <a:gd name="connsiteY40" fmla="*/ 151931 h 336551"/>
              <a:gd name="connsiteX41" fmla="*/ 185850 w 300038"/>
              <a:gd name="connsiteY41" fmla="*/ 183639 h 336551"/>
              <a:gd name="connsiteX42" fmla="*/ 172579 w 300038"/>
              <a:gd name="connsiteY42" fmla="*/ 192887 h 336551"/>
              <a:gd name="connsiteX43" fmla="*/ 150019 w 300038"/>
              <a:gd name="connsiteY43" fmla="*/ 196850 h 336551"/>
              <a:gd name="connsiteX44" fmla="*/ 127459 w 300038"/>
              <a:gd name="connsiteY44" fmla="*/ 192887 h 336551"/>
              <a:gd name="connsiteX45" fmla="*/ 114189 w 300038"/>
              <a:gd name="connsiteY45" fmla="*/ 183639 h 336551"/>
              <a:gd name="connsiteX46" fmla="*/ 91629 w 300038"/>
              <a:gd name="connsiteY46" fmla="*/ 151931 h 336551"/>
              <a:gd name="connsiteX47" fmla="*/ 67742 w 300038"/>
              <a:gd name="connsiteY47" fmla="*/ 125508 h 336551"/>
              <a:gd name="connsiteX48" fmla="*/ 70396 w 300038"/>
              <a:gd name="connsiteY48" fmla="*/ 100407 h 336551"/>
              <a:gd name="connsiteX49" fmla="*/ 75704 w 300038"/>
              <a:gd name="connsiteY49" fmla="*/ 93801 h 336551"/>
              <a:gd name="connsiteX50" fmla="*/ 77031 w 300038"/>
              <a:gd name="connsiteY50" fmla="*/ 85874 h 336551"/>
              <a:gd name="connsiteX51" fmla="*/ 74377 w 300038"/>
              <a:gd name="connsiteY51" fmla="*/ 50203 h 336551"/>
              <a:gd name="connsiteX52" fmla="*/ 103572 w 300038"/>
              <a:gd name="connsiteY52" fmla="*/ 27744 h 336551"/>
              <a:gd name="connsiteX53" fmla="*/ 119497 w 300038"/>
              <a:gd name="connsiteY53" fmla="*/ 10569 h 336551"/>
              <a:gd name="connsiteX54" fmla="*/ 155328 w 300038"/>
              <a:gd name="connsiteY54" fmla="*/ 0 h 33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00038" h="336551">
                <a:moveTo>
                  <a:pt x="199932" y="273051"/>
                </a:moveTo>
                <a:cubicBezTo>
                  <a:pt x="194703" y="273051"/>
                  <a:pt x="192088" y="277020"/>
                  <a:pt x="192088" y="280989"/>
                </a:cubicBezTo>
                <a:cubicBezTo>
                  <a:pt x="192088" y="306124"/>
                  <a:pt x="192088" y="306124"/>
                  <a:pt x="192088" y="306124"/>
                </a:cubicBezTo>
                <a:cubicBezTo>
                  <a:pt x="192088" y="310093"/>
                  <a:pt x="194703" y="312739"/>
                  <a:pt x="199932" y="312739"/>
                </a:cubicBezTo>
                <a:cubicBezTo>
                  <a:pt x="250919" y="312739"/>
                  <a:pt x="250919" y="312739"/>
                  <a:pt x="250919" y="312739"/>
                </a:cubicBezTo>
                <a:cubicBezTo>
                  <a:pt x="254841" y="312739"/>
                  <a:pt x="258763" y="310093"/>
                  <a:pt x="258763" y="306124"/>
                </a:cubicBezTo>
                <a:lnTo>
                  <a:pt x="258763" y="280989"/>
                </a:lnTo>
                <a:cubicBezTo>
                  <a:pt x="258763" y="277020"/>
                  <a:pt x="254841" y="273051"/>
                  <a:pt x="250919" y="273051"/>
                </a:cubicBezTo>
                <a:cubicBezTo>
                  <a:pt x="199932" y="273051"/>
                  <a:pt x="199932" y="273051"/>
                  <a:pt x="199932" y="273051"/>
                </a:cubicBezTo>
                <a:close/>
                <a:moveTo>
                  <a:pt x="101328" y="196851"/>
                </a:moveTo>
                <a:cubicBezTo>
                  <a:pt x="103960" y="196851"/>
                  <a:pt x="105276" y="196851"/>
                  <a:pt x="107908" y="196851"/>
                </a:cubicBezTo>
                <a:cubicBezTo>
                  <a:pt x="109224" y="198169"/>
                  <a:pt x="110540" y="199487"/>
                  <a:pt x="111856" y="202123"/>
                </a:cubicBezTo>
                <a:cubicBezTo>
                  <a:pt x="128964" y="248250"/>
                  <a:pt x="128964" y="248250"/>
                  <a:pt x="128964" y="248250"/>
                </a:cubicBezTo>
                <a:cubicBezTo>
                  <a:pt x="131595" y="239025"/>
                  <a:pt x="131595" y="239025"/>
                  <a:pt x="131595" y="239025"/>
                </a:cubicBezTo>
                <a:cubicBezTo>
                  <a:pt x="126332" y="225845"/>
                  <a:pt x="126332" y="225845"/>
                  <a:pt x="126332" y="225845"/>
                </a:cubicBezTo>
                <a:cubicBezTo>
                  <a:pt x="125016" y="223209"/>
                  <a:pt x="126332" y="220574"/>
                  <a:pt x="127648" y="217938"/>
                </a:cubicBezTo>
                <a:cubicBezTo>
                  <a:pt x="128964" y="216620"/>
                  <a:pt x="131595" y="215302"/>
                  <a:pt x="132911" y="215302"/>
                </a:cubicBezTo>
                <a:cubicBezTo>
                  <a:pt x="167126" y="215302"/>
                  <a:pt x="167126" y="215302"/>
                  <a:pt x="167126" y="215302"/>
                </a:cubicBezTo>
                <a:cubicBezTo>
                  <a:pt x="168442" y="215302"/>
                  <a:pt x="171074" y="216620"/>
                  <a:pt x="172390" y="217938"/>
                </a:cubicBezTo>
                <a:cubicBezTo>
                  <a:pt x="173706" y="220574"/>
                  <a:pt x="175022" y="223209"/>
                  <a:pt x="173706" y="225845"/>
                </a:cubicBezTo>
                <a:cubicBezTo>
                  <a:pt x="168442" y="239025"/>
                  <a:pt x="168442" y="239025"/>
                  <a:pt x="168442" y="239025"/>
                </a:cubicBezTo>
                <a:cubicBezTo>
                  <a:pt x="171074" y="248250"/>
                  <a:pt x="171074" y="248250"/>
                  <a:pt x="171074" y="248250"/>
                </a:cubicBezTo>
                <a:cubicBezTo>
                  <a:pt x="188182" y="202123"/>
                  <a:pt x="188182" y="202123"/>
                  <a:pt x="188182" y="202123"/>
                </a:cubicBezTo>
                <a:cubicBezTo>
                  <a:pt x="189498" y="199487"/>
                  <a:pt x="190814" y="198169"/>
                  <a:pt x="192130" y="196851"/>
                </a:cubicBezTo>
                <a:cubicBezTo>
                  <a:pt x="194762" y="196851"/>
                  <a:pt x="196078" y="196851"/>
                  <a:pt x="198710" y="196851"/>
                </a:cubicBezTo>
                <a:cubicBezTo>
                  <a:pt x="265823" y="224527"/>
                  <a:pt x="265823" y="224527"/>
                  <a:pt x="265823" y="224527"/>
                </a:cubicBezTo>
                <a:cubicBezTo>
                  <a:pt x="286879" y="232435"/>
                  <a:pt x="300038" y="252204"/>
                  <a:pt x="300038" y="274609"/>
                </a:cubicBezTo>
                <a:cubicBezTo>
                  <a:pt x="300038" y="328643"/>
                  <a:pt x="300038" y="328643"/>
                  <a:pt x="300038" y="328643"/>
                </a:cubicBezTo>
                <a:cubicBezTo>
                  <a:pt x="300038" y="332597"/>
                  <a:pt x="296090" y="336551"/>
                  <a:pt x="292142" y="336551"/>
                </a:cubicBezTo>
                <a:cubicBezTo>
                  <a:pt x="7896" y="336551"/>
                  <a:pt x="7896" y="336551"/>
                  <a:pt x="7896" y="336551"/>
                </a:cubicBezTo>
                <a:cubicBezTo>
                  <a:pt x="3948" y="336551"/>
                  <a:pt x="0" y="332597"/>
                  <a:pt x="0" y="328643"/>
                </a:cubicBezTo>
                <a:cubicBezTo>
                  <a:pt x="0" y="274609"/>
                  <a:pt x="0" y="274609"/>
                  <a:pt x="0" y="274609"/>
                </a:cubicBezTo>
                <a:cubicBezTo>
                  <a:pt x="0" y="252204"/>
                  <a:pt x="13159" y="232435"/>
                  <a:pt x="34215" y="224527"/>
                </a:cubicBezTo>
                <a:cubicBezTo>
                  <a:pt x="101328" y="196851"/>
                  <a:pt x="101328" y="196851"/>
                  <a:pt x="101328" y="196851"/>
                </a:cubicBezTo>
                <a:close/>
                <a:moveTo>
                  <a:pt x="155328" y="0"/>
                </a:moveTo>
                <a:cubicBezTo>
                  <a:pt x="171252" y="0"/>
                  <a:pt x="187177" y="5285"/>
                  <a:pt x="201775" y="15854"/>
                </a:cubicBezTo>
                <a:cubicBezTo>
                  <a:pt x="225662" y="34350"/>
                  <a:pt x="223008" y="72663"/>
                  <a:pt x="223008" y="79268"/>
                </a:cubicBezTo>
                <a:cubicBezTo>
                  <a:pt x="223008" y="84553"/>
                  <a:pt x="224335" y="89838"/>
                  <a:pt x="224335" y="93801"/>
                </a:cubicBezTo>
                <a:cubicBezTo>
                  <a:pt x="225662" y="95122"/>
                  <a:pt x="228316" y="96443"/>
                  <a:pt x="229643" y="100407"/>
                </a:cubicBezTo>
                <a:cubicBezTo>
                  <a:pt x="234951" y="107012"/>
                  <a:pt x="234951" y="114939"/>
                  <a:pt x="232297" y="125508"/>
                </a:cubicBezTo>
                <a:cubicBezTo>
                  <a:pt x="226989" y="146647"/>
                  <a:pt x="215045" y="150610"/>
                  <a:pt x="208410" y="151931"/>
                </a:cubicBezTo>
                <a:cubicBezTo>
                  <a:pt x="204429" y="159858"/>
                  <a:pt x="195139" y="175712"/>
                  <a:pt x="185850" y="183639"/>
                </a:cubicBezTo>
                <a:cubicBezTo>
                  <a:pt x="183196" y="187602"/>
                  <a:pt x="177888" y="190244"/>
                  <a:pt x="172579" y="192887"/>
                </a:cubicBezTo>
                <a:cubicBezTo>
                  <a:pt x="164617" y="195529"/>
                  <a:pt x="157982" y="196850"/>
                  <a:pt x="150019" y="196850"/>
                </a:cubicBezTo>
                <a:cubicBezTo>
                  <a:pt x="142057" y="196850"/>
                  <a:pt x="135422" y="195529"/>
                  <a:pt x="127459" y="192887"/>
                </a:cubicBezTo>
                <a:cubicBezTo>
                  <a:pt x="122151" y="190244"/>
                  <a:pt x="116843" y="187602"/>
                  <a:pt x="114189" y="183639"/>
                </a:cubicBezTo>
                <a:cubicBezTo>
                  <a:pt x="104900" y="175712"/>
                  <a:pt x="95610" y="159858"/>
                  <a:pt x="91629" y="151931"/>
                </a:cubicBezTo>
                <a:cubicBezTo>
                  <a:pt x="84994" y="150610"/>
                  <a:pt x="73050" y="146647"/>
                  <a:pt x="67742" y="125508"/>
                </a:cubicBezTo>
                <a:cubicBezTo>
                  <a:pt x="65088" y="114939"/>
                  <a:pt x="65088" y="107012"/>
                  <a:pt x="70396" y="100407"/>
                </a:cubicBezTo>
                <a:cubicBezTo>
                  <a:pt x="71723" y="96443"/>
                  <a:pt x="74377" y="95122"/>
                  <a:pt x="75704" y="93801"/>
                </a:cubicBezTo>
                <a:cubicBezTo>
                  <a:pt x="75704" y="91159"/>
                  <a:pt x="75704" y="88516"/>
                  <a:pt x="77031" y="85874"/>
                </a:cubicBezTo>
                <a:cubicBezTo>
                  <a:pt x="73050" y="80590"/>
                  <a:pt x="67742" y="68699"/>
                  <a:pt x="74377" y="50203"/>
                </a:cubicBezTo>
                <a:cubicBezTo>
                  <a:pt x="81013" y="30386"/>
                  <a:pt x="95610" y="27744"/>
                  <a:pt x="103572" y="27744"/>
                </a:cubicBezTo>
                <a:cubicBezTo>
                  <a:pt x="106227" y="22459"/>
                  <a:pt x="111535" y="17175"/>
                  <a:pt x="119497" y="10569"/>
                </a:cubicBezTo>
                <a:cubicBezTo>
                  <a:pt x="128786" y="3963"/>
                  <a:pt x="142057" y="0"/>
                  <a:pt x="1553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思源黑体 CN Normal" panose="020B0400000000000000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646836" y="1664643"/>
            <a:ext cx="1505515" cy="1297389"/>
            <a:chOff x="3978461" y="2452512"/>
            <a:chExt cx="1505319" cy="1297689"/>
          </a:xfrm>
        </p:grpSpPr>
        <p:sp>
          <p:nvSpPr>
            <p:cNvPr id="31" name="梯形 30"/>
            <p:cNvSpPr/>
            <p:nvPr/>
          </p:nvSpPr>
          <p:spPr>
            <a:xfrm>
              <a:off x="4344623" y="3523139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2" name="六边形 31"/>
            <p:cNvSpPr/>
            <p:nvPr/>
          </p:nvSpPr>
          <p:spPr>
            <a:xfrm>
              <a:off x="3978461" y="2452512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4051993" y="2515056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4" name="梯形 71"/>
            <p:cNvSpPr/>
            <p:nvPr/>
          </p:nvSpPr>
          <p:spPr>
            <a:xfrm rot="14580000" flipH="1">
              <a:off x="4859296" y="2760492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4052375" y="2519273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6" name="梯形 35"/>
            <p:cNvSpPr/>
            <p:nvPr/>
          </p:nvSpPr>
          <p:spPr>
            <a:xfrm flipV="1">
              <a:off x="4344623" y="2515055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896640" y="1891649"/>
            <a:ext cx="1011099" cy="843370"/>
            <a:chOff x="4228234" y="2679573"/>
            <a:chExt cx="1010966" cy="843565"/>
          </a:xfrm>
        </p:grpSpPr>
        <p:sp>
          <p:nvSpPr>
            <p:cNvPr id="38" name="六边形 37"/>
            <p:cNvSpPr/>
            <p:nvPr/>
          </p:nvSpPr>
          <p:spPr>
            <a:xfrm>
              <a:off x="4241852" y="2679573"/>
              <a:ext cx="978537" cy="843565"/>
            </a:xfrm>
            <a:prstGeom prst="hexagon">
              <a:avLst/>
            </a:prstGeom>
            <a:solidFill>
              <a:srgbClr val="01ACBE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39" name="文本框 1"/>
            <p:cNvSpPr txBox="1"/>
            <p:nvPr/>
          </p:nvSpPr>
          <p:spPr>
            <a:xfrm>
              <a:off x="4228234" y="2842334"/>
              <a:ext cx="1010966" cy="523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01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646836" y="2959021"/>
            <a:ext cx="1505515" cy="1297389"/>
            <a:chOff x="3978461" y="3747190"/>
            <a:chExt cx="1505319" cy="1297689"/>
          </a:xfrm>
        </p:grpSpPr>
        <p:sp>
          <p:nvSpPr>
            <p:cNvPr id="41" name="梯形 40"/>
            <p:cNvSpPr/>
            <p:nvPr/>
          </p:nvSpPr>
          <p:spPr>
            <a:xfrm>
              <a:off x="4344623" y="4817817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2" name="梯形 41"/>
            <p:cNvSpPr/>
            <p:nvPr/>
          </p:nvSpPr>
          <p:spPr>
            <a:xfrm flipV="1">
              <a:off x="4344623" y="3809733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3" name="六边形 42"/>
            <p:cNvSpPr/>
            <p:nvPr/>
          </p:nvSpPr>
          <p:spPr>
            <a:xfrm>
              <a:off x="3978461" y="3747190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4051993" y="3809734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5" name="梯形 71"/>
            <p:cNvSpPr/>
            <p:nvPr/>
          </p:nvSpPr>
          <p:spPr>
            <a:xfrm rot="14580000" flipH="1">
              <a:off x="4859296" y="4055170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4052375" y="3813951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896640" y="3186028"/>
            <a:ext cx="1011099" cy="843371"/>
            <a:chOff x="4228234" y="3974251"/>
            <a:chExt cx="1010966" cy="843565"/>
          </a:xfrm>
        </p:grpSpPr>
        <p:sp>
          <p:nvSpPr>
            <p:cNvPr id="48" name="六边形 47"/>
            <p:cNvSpPr/>
            <p:nvPr/>
          </p:nvSpPr>
          <p:spPr>
            <a:xfrm>
              <a:off x="4241852" y="3974251"/>
              <a:ext cx="978537" cy="843565"/>
            </a:xfrm>
            <a:prstGeom prst="hexagon">
              <a:avLst/>
            </a:prstGeom>
            <a:solidFill>
              <a:srgbClr val="E87071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49" name="文本框 26"/>
            <p:cNvSpPr txBox="1"/>
            <p:nvPr/>
          </p:nvSpPr>
          <p:spPr>
            <a:xfrm>
              <a:off x="4228234" y="4118520"/>
              <a:ext cx="1010966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02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019523" y="1664643"/>
            <a:ext cx="1505515" cy="1297389"/>
            <a:chOff x="6350839" y="2452512"/>
            <a:chExt cx="1505319" cy="1297689"/>
          </a:xfrm>
        </p:grpSpPr>
        <p:sp>
          <p:nvSpPr>
            <p:cNvPr id="51" name="梯形 50"/>
            <p:cNvSpPr/>
            <p:nvPr/>
          </p:nvSpPr>
          <p:spPr>
            <a:xfrm>
              <a:off x="6717001" y="3523139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2" name="梯形 51"/>
            <p:cNvSpPr/>
            <p:nvPr/>
          </p:nvSpPr>
          <p:spPr>
            <a:xfrm flipV="1">
              <a:off x="6717001" y="2515055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3" name="六边形 52"/>
            <p:cNvSpPr/>
            <p:nvPr/>
          </p:nvSpPr>
          <p:spPr>
            <a:xfrm>
              <a:off x="6350839" y="2452512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6424371" y="2515056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5" name="梯形 71"/>
            <p:cNvSpPr/>
            <p:nvPr/>
          </p:nvSpPr>
          <p:spPr>
            <a:xfrm rot="14580000" flipH="1">
              <a:off x="7231674" y="2760492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6424753" y="2519273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55617" y="1891649"/>
            <a:ext cx="1011099" cy="843370"/>
            <a:chOff x="6586905" y="2679573"/>
            <a:chExt cx="1010966" cy="843565"/>
          </a:xfrm>
        </p:grpSpPr>
        <p:sp>
          <p:nvSpPr>
            <p:cNvPr id="58" name="六边形 57"/>
            <p:cNvSpPr/>
            <p:nvPr/>
          </p:nvSpPr>
          <p:spPr>
            <a:xfrm>
              <a:off x="6614230" y="2679573"/>
              <a:ext cx="978537" cy="843565"/>
            </a:xfrm>
            <a:prstGeom prst="hexagon">
              <a:avLst/>
            </a:prstGeom>
            <a:solidFill>
              <a:srgbClr val="663A77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9" name="文本框 47"/>
            <p:cNvSpPr txBox="1"/>
            <p:nvPr/>
          </p:nvSpPr>
          <p:spPr>
            <a:xfrm>
              <a:off x="6586905" y="2842334"/>
              <a:ext cx="1010966" cy="523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05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019523" y="2959021"/>
            <a:ext cx="1505515" cy="1297389"/>
            <a:chOff x="6350839" y="3747190"/>
            <a:chExt cx="1505319" cy="1297689"/>
          </a:xfrm>
        </p:grpSpPr>
        <p:sp>
          <p:nvSpPr>
            <p:cNvPr id="61" name="梯形 60"/>
            <p:cNvSpPr/>
            <p:nvPr/>
          </p:nvSpPr>
          <p:spPr>
            <a:xfrm>
              <a:off x="6717001" y="4817817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2" name="梯形 61"/>
            <p:cNvSpPr/>
            <p:nvPr/>
          </p:nvSpPr>
          <p:spPr>
            <a:xfrm flipV="1">
              <a:off x="6717001" y="3809733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3" name="六边形 62"/>
            <p:cNvSpPr/>
            <p:nvPr/>
          </p:nvSpPr>
          <p:spPr>
            <a:xfrm>
              <a:off x="6350839" y="3747190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6424371" y="3809734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5" name="梯形 71"/>
            <p:cNvSpPr/>
            <p:nvPr/>
          </p:nvSpPr>
          <p:spPr>
            <a:xfrm rot="14580000" flipH="1">
              <a:off x="7231674" y="4055170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6424753" y="3813951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6255617" y="3186028"/>
            <a:ext cx="1011099" cy="843371"/>
            <a:chOff x="6586905" y="3974251"/>
            <a:chExt cx="1010966" cy="843565"/>
          </a:xfrm>
        </p:grpSpPr>
        <p:sp>
          <p:nvSpPr>
            <p:cNvPr id="68" name="六边形 67"/>
            <p:cNvSpPr/>
            <p:nvPr/>
          </p:nvSpPr>
          <p:spPr>
            <a:xfrm>
              <a:off x="6614230" y="3974251"/>
              <a:ext cx="978537" cy="843565"/>
            </a:xfrm>
            <a:prstGeom prst="hexagon">
              <a:avLst/>
            </a:prstGeom>
            <a:solidFill>
              <a:srgbClr val="C65885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69" name="文本框 50"/>
            <p:cNvSpPr txBox="1"/>
            <p:nvPr/>
          </p:nvSpPr>
          <p:spPr>
            <a:xfrm>
              <a:off x="6586905" y="4118520"/>
              <a:ext cx="1010966" cy="523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04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833157" y="3594632"/>
            <a:ext cx="1505515" cy="1297389"/>
            <a:chOff x="5164627" y="4382948"/>
            <a:chExt cx="1505319" cy="1297689"/>
          </a:xfrm>
        </p:grpSpPr>
        <p:sp>
          <p:nvSpPr>
            <p:cNvPr id="71" name="梯形 70"/>
            <p:cNvSpPr/>
            <p:nvPr/>
          </p:nvSpPr>
          <p:spPr>
            <a:xfrm>
              <a:off x="5530789" y="5453575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2" name="梯形 71"/>
            <p:cNvSpPr/>
            <p:nvPr/>
          </p:nvSpPr>
          <p:spPr>
            <a:xfrm flipV="1">
              <a:off x="5530789" y="4445491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3" name="六边形 72"/>
            <p:cNvSpPr/>
            <p:nvPr/>
          </p:nvSpPr>
          <p:spPr>
            <a:xfrm>
              <a:off x="5164627" y="4382948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5238159" y="4445492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5" name="梯形 71"/>
            <p:cNvSpPr/>
            <p:nvPr/>
          </p:nvSpPr>
          <p:spPr>
            <a:xfrm rot="14580000" flipH="1">
              <a:off x="6045462" y="4690928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5238541" y="4449709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061266" y="3821638"/>
            <a:ext cx="1013981" cy="843371"/>
            <a:chOff x="5392706" y="4610009"/>
            <a:chExt cx="1013849" cy="843565"/>
          </a:xfrm>
        </p:grpSpPr>
        <p:sp>
          <p:nvSpPr>
            <p:cNvPr id="78" name="六边形 77"/>
            <p:cNvSpPr/>
            <p:nvPr/>
          </p:nvSpPr>
          <p:spPr>
            <a:xfrm>
              <a:off x="5428018" y="4610009"/>
              <a:ext cx="978537" cy="843565"/>
            </a:xfrm>
            <a:prstGeom prst="hexagon">
              <a:avLst/>
            </a:prstGeom>
            <a:solidFill>
              <a:srgbClr val="00AF92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79" name="文本框 52"/>
            <p:cNvSpPr txBox="1"/>
            <p:nvPr/>
          </p:nvSpPr>
          <p:spPr>
            <a:xfrm>
              <a:off x="5392706" y="4771239"/>
              <a:ext cx="1010965" cy="523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03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833157" y="1016645"/>
            <a:ext cx="1505515" cy="1297389"/>
            <a:chOff x="5164627" y="1804365"/>
            <a:chExt cx="1505319" cy="1297689"/>
          </a:xfrm>
        </p:grpSpPr>
        <p:sp>
          <p:nvSpPr>
            <p:cNvPr id="81" name="梯形 80"/>
            <p:cNvSpPr/>
            <p:nvPr/>
          </p:nvSpPr>
          <p:spPr>
            <a:xfrm flipV="1">
              <a:off x="5530789" y="1866908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2" name="六边形 81"/>
            <p:cNvSpPr/>
            <p:nvPr/>
          </p:nvSpPr>
          <p:spPr>
            <a:xfrm>
              <a:off x="5164627" y="1804365"/>
              <a:ext cx="1505319" cy="1297689"/>
            </a:xfrm>
            <a:prstGeom prst="hexagon">
              <a:avLst/>
            </a:prstGeom>
            <a:gradFill flip="none" rotWithShape="1">
              <a:gsLst>
                <a:gs pos="61000">
                  <a:srgbClr val="F6F6F6"/>
                </a:gs>
                <a:gs pos="37000">
                  <a:srgbClr val="E0E0E0"/>
                </a:gs>
                <a:gs pos="17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381000" dist="127000" dir="2400000" algn="tl" rotWithShape="0">
                <a:srgbClr val="696969">
                  <a:alpha val="4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5238159" y="1866909"/>
              <a:ext cx="1360218" cy="1172601"/>
            </a:xfrm>
            <a:custGeom>
              <a:avLst/>
              <a:gdLst>
                <a:gd name="connsiteX0" fmla="*/ 407876 w 1381020"/>
                <a:gd name="connsiteY0" fmla="*/ 167033 h 1190534"/>
                <a:gd name="connsiteX1" fmla="*/ 193759 w 1381020"/>
                <a:gd name="connsiteY1" fmla="*/ 595266 h 1190534"/>
                <a:gd name="connsiteX2" fmla="*/ 407876 w 1381020"/>
                <a:gd name="connsiteY2" fmla="*/ 1023499 h 1190534"/>
                <a:gd name="connsiteX3" fmla="*/ 973145 w 1381020"/>
                <a:gd name="connsiteY3" fmla="*/ 1023499 h 1190534"/>
                <a:gd name="connsiteX4" fmla="*/ 1187261 w 1381020"/>
                <a:gd name="connsiteY4" fmla="*/ 595266 h 1190534"/>
                <a:gd name="connsiteX5" fmla="*/ 973145 w 1381020"/>
                <a:gd name="connsiteY5" fmla="*/ 167033 h 1190534"/>
                <a:gd name="connsiteX6" fmla="*/ 297634 w 1381020"/>
                <a:gd name="connsiteY6" fmla="*/ 0 h 1190534"/>
                <a:gd name="connsiteX7" fmla="*/ 1083387 w 1381020"/>
                <a:gd name="connsiteY7" fmla="*/ 0 h 1190534"/>
                <a:gd name="connsiteX8" fmla="*/ 1381020 w 1381020"/>
                <a:gd name="connsiteY8" fmla="*/ 595267 h 1190534"/>
                <a:gd name="connsiteX9" fmla="*/ 1083387 w 1381020"/>
                <a:gd name="connsiteY9" fmla="*/ 1190534 h 1190534"/>
                <a:gd name="connsiteX10" fmla="*/ 297634 w 1381020"/>
                <a:gd name="connsiteY10" fmla="*/ 1190534 h 1190534"/>
                <a:gd name="connsiteX11" fmla="*/ 0 w 1381020"/>
                <a:gd name="connsiteY11" fmla="*/ 595267 h 119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1020" h="1190534">
                  <a:moveTo>
                    <a:pt x="407876" y="167033"/>
                  </a:moveTo>
                  <a:lnTo>
                    <a:pt x="193759" y="595266"/>
                  </a:lnTo>
                  <a:lnTo>
                    <a:pt x="407876" y="1023499"/>
                  </a:lnTo>
                  <a:lnTo>
                    <a:pt x="973145" y="1023499"/>
                  </a:lnTo>
                  <a:lnTo>
                    <a:pt x="1187261" y="595266"/>
                  </a:lnTo>
                  <a:lnTo>
                    <a:pt x="973145" y="167033"/>
                  </a:lnTo>
                  <a:close/>
                  <a:moveTo>
                    <a:pt x="297634" y="0"/>
                  </a:moveTo>
                  <a:lnTo>
                    <a:pt x="1083387" y="0"/>
                  </a:lnTo>
                  <a:lnTo>
                    <a:pt x="1381020" y="595267"/>
                  </a:lnTo>
                  <a:lnTo>
                    <a:pt x="1083387" y="1190534"/>
                  </a:lnTo>
                  <a:lnTo>
                    <a:pt x="297634" y="1190534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57000">
                  <a:srgbClr val="F5F5F5"/>
                </a:gs>
                <a:gs pos="32000">
                  <a:srgbClr val="DEDEDE"/>
                </a:gs>
                <a:gs pos="0">
                  <a:srgbClr val="CBCBCB"/>
                </a:gs>
                <a:gs pos="100000">
                  <a:schemeClr val="bg1"/>
                </a:gs>
              </a:gsLst>
              <a:lin ang="2700000" scaled="1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4" name="梯形 83"/>
            <p:cNvSpPr/>
            <p:nvPr/>
          </p:nvSpPr>
          <p:spPr>
            <a:xfrm>
              <a:off x="5530789" y="2874992"/>
              <a:ext cx="773977" cy="164519"/>
            </a:xfrm>
            <a:prstGeom prst="trapezoid">
              <a:avLst>
                <a:gd name="adj" fmla="val 66343"/>
              </a:avLst>
            </a:prstGeom>
            <a:gradFill>
              <a:gsLst>
                <a:gs pos="0">
                  <a:srgbClr val="E6E6E6"/>
                </a:gs>
                <a:gs pos="100000">
                  <a:srgbClr val="F7F7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5" name="梯形 71"/>
            <p:cNvSpPr/>
            <p:nvPr/>
          </p:nvSpPr>
          <p:spPr>
            <a:xfrm rot="14580000" flipH="1">
              <a:off x="6045462" y="2112345"/>
              <a:ext cx="656958" cy="169043"/>
            </a:xfrm>
            <a:custGeom>
              <a:avLst/>
              <a:gdLst>
                <a:gd name="connsiteX0" fmla="*/ 0 w 667005"/>
                <a:gd name="connsiteY0" fmla="*/ 171628 h 171628"/>
                <a:gd name="connsiteX1" fmla="*/ 85140 w 667005"/>
                <a:gd name="connsiteY1" fmla="*/ 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737 h 171737"/>
                <a:gd name="connsiteX1" fmla="*/ 99339 w 667005"/>
                <a:gd name="connsiteY1" fmla="*/ 0 h 171737"/>
                <a:gd name="connsiteX2" fmla="*/ 581865 w 667005"/>
                <a:gd name="connsiteY2" fmla="*/ 109 h 171737"/>
                <a:gd name="connsiteX3" fmla="*/ 667005 w 667005"/>
                <a:gd name="connsiteY3" fmla="*/ 171737 h 171737"/>
                <a:gd name="connsiteX4" fmla="*/ 0 w 667005"/>
                <a:gd name="connsiteY4" fmla="*/ 171737 h 171737"/>
                <a:gd name="connsiteX0" fmla="*/ 0 w 667005"/>
                <a:gd name="connsiteY0" fmla="*/ 171628 h 171628"/>
                <a:gd name="connsiteX1" fmla="*/ 140601 w 667005"/>
                <a:gd name="connsiteY1" fmla="*/ 10938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  <a:gd name="connsiteX0" fmla="*/ 0 w 667005"/>
                <a:gd name="connsiteY0" fmla="*/ 171628 h 171628"/>
                <a:gd name="connsiteX1" fmla="*/ 103609 w 667005"/>
                <a:gd name="connsiteY1" fmla="*/ 1280 h 171628"/>
                <a:gd name="connsiteX2" fmla="*/ 581865 w 667005"/>
                <a:gd name="connsiteY2" fmla="*/ 0 h 171628"/>
                <a:gd name="connsiteX3" fmla="*/ 667005 w 667005"/>
                <a:gd name="connsiteY3" fmla="*/ 171628 h 171628"/>
                <a:gd name="connsiteX4" fmla="*/ 0 w 667005"/>
                <a:gd name="connsiteY4" fmla="*/ 171628 h 171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7005" h="171628">
                  <a:moveTo>
                    <a:pt x="0" y="171628"/>
                  </a:moveTo>
                  <a:lnTo>
                    <a:pt x="103609" y="1280"/>
                  </a:lnTo>
                  <a:lnTo>
                    <a:pt x="581865" y="0"/>
                  </a:lnTo>
                  <a:lnTo>
                    <a:pt x="667005" y="171628"/>
                  </a:lnTo>
                  <a:lnTo>
                    <a:pt x="0" y="171628"/>
                  </a:lnTo>
                  <a:close/>
                </a:path>
              </a:pathLst>
            </a:custGeom>
            <a:gradFill>
              <a:gsLst>
                <a:gs pos="0">
                  <a:srgbClr val="DEDEDE"/>
                </a:gs>
                <a:gs pos="100000">
                  <a:srgbClr val="F4F4F4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5238541" y="1871126"/>
              <a:ext cx="406992" cy="586301"/>
            </a:xfrm>
            <a:custGeom>
              <a:avLst/>
              <a:gdLst>
                <a:gd name="connsiteX0" fmla="*/ 297634 w 413216"/>
                <a:gd name="connsiteY0" fmla="*/ 0 h 595267"/>
                <a:gd name="connsiteX1" fmla="*/ 302996 w 413216"/>
                <a:gd name="connsiteY1" fmla="*/ 0 h 595267"/>
                <a:gd name="connsiteX2" fmla="*/ 413216 w 413216"/>
                <a:gd name="connsiteY2" fmla="*/ 167033 h 595267"/>
                <a:gd name="connsiteX3" fmla="*/ 407876 w 413216"/>
                <a:gd name="connsiteY3" fmla="*/ 167033 h 595267"/>
                <a:gd name="connsiteX4" fmla="*/ 193759 w 413216"/>
                <a:gd name="connsiteY4" fmla="*/ 595266 h 595267"/>
                <a:gd name="connsiteX5" fmla="*/ 193760 w 413216"/>
                <a:gd name="connsiteY5" fmla="*/ 595267 h 595267"/>
                <a:gd name="connsiteX6" fmla="*/ 0 w 413216"/>
                <a:gd name="connsiteY6" fmla="*/ 595267 h 5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216" h="595267">
                  <a:moveTo>
                    <a:pt x="297634" y="0"/>
                  </a:moveTo>
                  <a:lnTo>
                    <a:pt x="302996" y="0"/>
                  </a:lnTo>
                  <a:lnTo>
                    <a:pt x="413216" y="167033"/>
                  </a:lnTo>
                  <a:lnTo>
                    <a:pt x="407876" y="167033"/>
                  </a:lnTo>
                  <a:lnTo>
                    <a:pt x="193759" y="595266"/>
                  </a:lnTo>
                  <a:lnTo>
                    <a:pt x="193760" y="595267"/>
                  </a:lnTo>
                  <a:lnTo>
                    <a:pt x="0" y="595267"/>
                  </a:lnTo>
                  <a:close/>
                </a:path>
              </a:pathLst>
            </a:custGeom>
            <a:gradFill>
              <a:gsLst>
                <a:gs pos="100000">
                  <a:srgbClr val="DFDFDF"/>
                </a:gs>
                <a:gs pos="0">
                  <a:srgbClr val="B4B4B4"/>
                </a:gs>
              </a:gsLst>
              <a:lin ang="2700000" scaled="0"/>
            </a:gradFill>
            <a:ln w="19050"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5061266" y="1243653"/>
            <a:ext cx="1013981" cy="843370"/>
            <a:chOff x="5392706" y="2031426"/>
            <a:chExt cx="1013849" cy="843565"/>
          </a:xfrm>
        </p:grpSpPr>
        <p:sp>
          <p:nvSpPr>
            <p:cNvPr id="88" name="六边形 87"/>
            <p:cNvSpPr/>
            <p:nvPr/>
          </p:nvSpPr>
          <p:spPr>
            <a:xfrm>
              <a:off x="5428018" y="2031426"/>
              <a:ext cx="978537" cy="843565"/>
            </a:xfrm>
            <a:prstGeom prst="hexagon">
              <a:avLst/>
            </a:prstGeom>
            <a:solidFill>
              <a:srgbClr val="FFB850"/>
            </a:solidFill>
            <a:ln w="19050">
              <a:noFill/>
            </a:ln>
            <a:effectLst>
              <a:innerShdw blurRad="76200" dist="63500" dir="13500000">
                <a:prstClr val="black">
                  <a:alpha val="46000"/>
                </a:prstClr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89" name="文本框 54"/>
            <p:cNvSpPr txBox="1"/>
            <p:nvPr/>
          </p:nvSpPr>
          <p:spPr>
            <a:xfrm>
              <a:off x="5392706" y="2200064"/>
              <a:ext cx="1010965" cy="523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prstClr val="white"/>
                  </a:solidFill>
                  <a:latin typeface="Impact" panose="020B0806030902050204" pitchFamily="34" charset="0"/>
                  <a:ea typeface="时尚中黑简体" panose="01010104010101010101" pitchFamily="2" charset="-122"/>
                </a:rPr>
                <a:t>06</a:t>
              </a:r>
              <a:endParaRPr lang="zh-CN" altLang="en-US" sz="2800" dirty="0">
                <a:solidFill>
                  <a:prstClr val="white"/>
                </a:solidFill>
                <a:latin typeface="Impact" panose="020B0806030902050204" pitchFamily="34" charset="0"/>
                <a:ea typeface="时尚中黑简体" panose="01010104010101010101" pitchFamily="2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 flipH="1">
            <a:off x="2529679" y="3567698"/>
            <a:ext cx="1185977" cy="392979"/>
            <a:chOff x="5415884" y="5007622"/>
            <a:chExt cx="1648950" cy="353770"/>
          </a:xfrm>
        </p:grpSpPr>
        <p:sp>
          <p:nvSpPr>
            <p:cNvPr id="103" name="任意多边形 102"/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46090DE-27D7-0BFC-AB3D-F57C8A94E57F}"/>
              </a:ext>
            </a:extLst>
          </p:cNvPr>
          <p:cNvSpPr txBox="1"/>
          <p:nvPr/>
        </p:nvSpPr>
        <p:spPr>
          <a:xfrm>
            <a:off x="805434" y="1985853"/>
            <a:ext cx="2556322" cy="7084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  <a:ea typeface="+mn-ea"/>
                <a:sym typeface="思源黑体 CN Normal" panose="020B0400000000000000" pitchFamily="34" charset="-122"/>
              </a:rPr>
              <a:t>掌握完整的</a:t>
            </a:r>
            <a:r>
              <a:rPr lang="en-US" altLang="zh-CN" sz="1400" dirty="0">
                <a:latin typeface="+mn-ea"/>
                <a:ea typeface="+mn-ea"/>
                <a:sym typeface="思源黑体 CN Normal" panose="020B0400000000000000" pitchFamily="34" charset="-122"/>
              </a:rPr>
              <a:t>Java</a:t>
            </a:r>
            <a:r>
              <a:rPr lang="zh-CN" altLang="en-US" sz="1400" dirty="0">
                <a:latin typeface="+mn-ea"/>
                <a:ea typeface="+mn-ea"/>
                <a:sym typeface="思源黑体 CN Normal" panose="020B0400000000000000" pitchFamily="34" charset="-122"/>
              </a:rPr>
              <a:t>基础技术体系</a:t>
            </a:r>
            <a:endParaRPr lang="en-US" altLang="zh-CN" sz="1400" dirty="0">
              <a:latin typeface="+mn-ea"/>
              <a:ea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B803B3-AFF9-804A-B3F4-479FA5537564}"/>
              </a:ext>
            </a:extLst>
          </p:cNvPr>
          <p:cNvGrpSpPr/>
          <p:nvPr/>
        </p:nvGrpSpPr>
        <p:grpSpPr>
          <a:xfrm flipH="1">
            <a:off x="2501073" y="1611009"/>
            <a:ext cx="1443103" cy="379251"/>
            <a:chOff x="5415884" y="5007622"/>
            <a:chExt cx="1648950" cy="353770"/>
          </a:xfrm>
        </p:grpSpPr>
        <p:sp>
          <p:nvSpPr>
            <p:cNvPr id="18" name="任意多边形 102">
              <a:extLst>
                <a:ext uri="{FF2B5EF4-FFF2-40B4-BE49-F238E27FC236}">
                  <a16:creationId xmlns:a16="http://schemas.microsoft.com/office/drawing/2014/main" id="{E4AF877C-D71E-2FDE-A502-EAA12A9DD9BB}"/>
                </a:ext>
              </a:extLst>
            </p:cNvPr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8A375ED-1F70-5DBF-5B20-7A7BA8D8621B}"/>
                </a:ext>
              </a:extLst>
            </p:cNvPr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D73F70C-3CE7-A180-B83F-14F2E72DC2B5}"/>
              </a:ext>
            </a:extLst>
          </p:cNvPr>
          <p:cNvSpPr txBox="1"/>
          <p:nvPr/>
        </p:nvSpPr>
        <p:spPr>
          <a:xfrm>
            <a:off x="1267929" y="3966723"/>
            <a:ext cx="2051184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  <a:ea typeface="+mn-ea"/>
                <a:sym typeface="思源黑体 CN Normal" panose="020B0400000000000000" pitchFamily="34" charset="-122"/>
              </a:rPr>
              <a:t>极强的编程能力</a:t>
            </a:r>
            <a:endParaRPr lang="en-US" altLang="zh-CN" sz="1400" dirty="0">
              <a:latin typeface="+mn-ea"/>
              <a:ea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CE2CF0-08FE-86C0-3E33-A766EB2ED9EF}"/>
              </a:ext>
            </a:extLst>
          </p:cNvPr>
          <p:cNvGrpSpPr/>
          <p:nvPr/>
        </p:nvGrpSpPr>
        <p:grpSpPr>
          <a:xfrm flipH="1">
            <a:off x="3663654" y="4706005"/>
            <a:ext cx="1505515" cy="416731"/>
            <a:chOff x="5415884" y="5007622"/>
            <a:chExt cx="1648950" cy="353770"/>
          </a:xfrm>
        </p:grpSpPr>
        <p:sp>
          <p:nvSpPr>
            <p:cNvPr id="4" name="任意多边形 102">
              <a:extLst>
                <a:ext uri="{FF2B5EF4-FFF2-40B4-BE49-F238E27FC236}">
                  <a16:creationId xmlns:a16="http://schemas.microsoft.com/office/drawing/2014/main" id="{6341BF50-342C-9AFE-0544-BAA69C6B8C35}"/>
                </a:ext>
              </a:extLst>
            </p:cNvPr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279A474-26C9-2A23-9A89-9C22465F4A66}"/>
                </a:ext>
              </a:extLst>
            </p:cNvPr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A4FDC55-DEBC-1A54-B9B4-550AE9A330F7}"/>
              </a:ext>
            </a:extLst>
          </p:cNvPr>
          <p:cNvSpPr txBox="1"/>
          <p:nvPr/>
        </p:nvSpPr>
        <p:spPr>
          <a:xfrm>
            <a:off x="1860522" y="5143656"/>
            <a:ext cx="3625117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 b="1" spc="600">
                <a:solidFill>
                  <a:srgbClr val="0331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  <a:ea typeface="+mn-ea"/>
                <a:sym typeface="字魂105号-简雅黑" panose="00000500000000000000" pitchFamily="2" charset="-122"/>
              </a:rPr>
              <a:t>较强的解决问题的能力</a:t>
            </a:r>
            <a:endParaRPr lang="en-US" altLang="zh-CN" sz="1400" dirty="0">
              <a:latin typeface="+mn-ea"/>
              <a:ea typeface="+mn-ea"/>
              <a:sym typeface="字魂105号-简雅黑" panose="000005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DC4F63-5E79-1048-72AC-B8E0DD708479}"/>
              </a:ext>
            </a:extLst>
          </p:cNvPr>
          <p:cNvSpPr txBox="1"/>
          <p:nvPr/>
        </p:nvSpPr>
        <p:spPr>
          <a:xfrm>
            <a:off x="7600422" y="4484552"/>
            <a:ext cx="3311981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spc="600" dirty="0">
                <a:solidFill>
                  <a:srgbClr val="0331C4"/>
                </a:solidFill>
                <a:latin typeface="+mn-ea"/>
                <a:sym typeface="Gill Sans" charset="0"/>
              </a:rPr>
              <a:t>阅读源码的能力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B60C386-2948-9660-E9F6-B7055E1D2C88}"/>
              </a:ext>
            </a:extLst>
          </p:cNvPr>
          <p:cNvGrpSpPr/>
          <p:nvPr/>
        </p:nvGrpSpPr>
        <p:grpSpPr>
          <a:xfrm>
            <a:off x="7197498" y="4108425"/>
            <a:ext cx="1140288" cy="369332"/>
            <a:chOff x="5415884" y="5007622"/>
            <a:chExt cx="1648950" cy="353770"/>
          </a:xfrm>
        </p:grpSpPr>
        <p:sp>
          <p:nvSpPr>
            <p:cNvPr id="20" name="任意多边形 102">
              <a:extLst>
                <a:ext uri="{FF2B5EF4-FFF2-40B4-BE49-F238E27FC236}">
                  <a16:creationId xmlns:a16="http://schemas.microsoft.com/office/drawing/2014/main" id="{BBF6AB88-139E-33DB-AB90-B2F7080B9D45}"/>
                </a:ext>
              </a:extLst>
            </p:cNvPr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6C6ECF5-61AD-61BF-286D-508B214BB9FE}"/>
                </a:ext>
              </a:extLst>
            </p:cNvPr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0BB2B96A-D848-F351-2579-44E6EE4B9BD3}"/>
              </a:ext>
            </a:extLst>
          </p:cNvPr>
          <p:cNvSpPr txBox="1"/>
          <p:nvPr/>
        </p:nvSpPr>
        <p:spPr>
          <a:xfrm>
            <a:off x="8337786" y="2743987"/>
            <a:ext cx="2668193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spc="600" dirty="0">
                <a:solidFill>
                  <a:srgbClr val="0331C4"/>
                </a:solidFill>
                <a:latin typeface="+mn-ea"/>
                <a:sym typeface="字魂105号-简雅黑" panose="00000500000000000000" pitchFamily="2" charset="-122"/>
              </a:rPr>
              <a:t>最为标准的代码规范</a:t>
            </a:r>
            <a:endParaRPr lang="en-US" altLang="zh-CN" sz="1400" b="1" spc="600" dirty="0">
              <a:solidFill>
                <a:srgbClr val="0331C4"/>
              </a:solidFill>
              <a:latin typeface="+mn-ea"/>
              <a:sym typeface="字魂105号-简雅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25D2C43-6FD8-1296-71AE-1D0D4F8421FF}"/>
              </a:ext>
            </a:extLst>
          </p:cNvPr>
          <p:cNvGrpSpPr/>
          <p:nvPr/>
        </p:nvGrpSpPr>
        <p:grpSpPr>
          <a:xfrm>
            <a:off x="7411020" y="2367049"/>
            <a:ext cx="1140288" cy="369332"/>
            <a:chOff x="5415884" y="5007622"/>
            <a:chExt cx="1648950" cy="353770"/>
          </a:xfrm>
        </p:grpSpPr>
        <p:sp>
          <p:nvSpPr>
            <p:cNvPr id="14" name="任意多边形 102">
              <a:extLst>
                <a:ext uri="{FF2B5EF4-FFF2-40B4-BE49-F238E27FC236}">
                  <a16:creationId xmlns:a16="http://schemas.microsoft.com/office/drawing/2014/main" id="{29896233-42BA-BBDF-AF46-F8F3EA5F1ED0}"/>
                </a:ext>
              </a:extLst>
            </p:cNvPr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DAEC7FA-C991-7A32-BEF1-4B25FAA86B6B}"/>
                </a:ext>
              </a:extLst>
            </p:cNvPr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0E824376-B8BB-B97A-DD76-E21276719369}"/>
              </a:ext>
            </a:extLst>
          </p:cNvPr>
          <p:cNvSpPr txBox="1"/>
          <p:nvPr/>
        </p:nvSpPr>
        <p:spPr>
          <a:xfrm>
            <a:off x="7584013" y="1278571"/>
            <a:ext cx="3465089" cy="70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spc="600" dirty="0">
                <a:solidFill>
                  <a:srgbClr val="0331C4"/>
                </a:solidFill>
                <a:latin typeface="+mn-ea"/>
                <a:sym typeface="字魂105号-简雅黑" panose="00000500000000000000" pitchFamily="2" charset="-122"/>
              </a:rPr>
              <a:t>足以支持</a:t>
            </a:r>
            <a:r>
              <a:rPr lang="en-US" altLang="zh-CN" sz="1400" b="1" spc="600" dirty="0">
                <a:solidFill>
                  <a:srgbClr val="0331C4"/>
                </a:solidFill>
                <a:latin typeface="+mn-ea"/>
                <a:sym typeface="字魂105号-简雅黑" panose="00000500000000000000" pitchFamily="2" charset="-122"/>
              </a:rPr>
              <a:t>Java</a:t>
            </a:r>
            <a:r>
              <a:rPr lang="zh-CN" altLang="en-US" sz="1400" b="1" spc="600" dirty="0">
                <a:solidFill>
                  <a:srgbClr val="0331C4"/>
                </a:solidFill>
                <a:latin typeface="+mn-ea"/>
                <a:sym typeface="字魂105号-简雅黑" panose="00000500000000000000" pitchFamily="2" charset="-122"/>
              </a:rPr>
              <a:t>基础面试</a:t>
            </a:r>
            <a:endParaRPr lang="en-US" altLang="zh-CN" sz="1400" b="1" spc="600" dirty="0">
              <a:solidFill>
                <a:srgbClr val="0331C4"/>
              </a:solidFill>
              <a:latin typeface="+mn-ea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spc="600" dirty="0">
                <a:solidFill>
                  <a:srgbClr val="0331C4"/>
                </a:solidFill>
                <a:latin typeface="+mn-ea"/>
                <a:sym typeface="字魂105号-简雅黑" panose="00000500000000000000" pitchFamily="2" charset="-122"/>
              </a:rPr>
              <a:t>和后续课程的学习。</a:t>
            </a:r>
            <a:endParaRPr lang="en-US" altLang="zh-CN" sz="1400" b="1" spc="600" dirty="0">
              <a:solidFill>
                <a:srgbClr val="0331C4"/>
              </a:solidFill>
              <a:latin typeface="+mn-ea"/>
              <a:sym typeface="字魂105号-简雅黑" panose="00000500000000000000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895DD3E-750B-BC2A-E41F-B8963217F318}"/>
              </a:ext>
            </a:extLst>
          </p:cNvPr>
          <p:cNvGrpSpPr/>
          <p:nvPr/>
        </p:nvGrpSpPr>
        <p:grpSpPr>
          <a:xfrm>
            <a:off x="6027005" y="1009118"/>
            <a:ext cx="1668097" cy="343107"/>
            <a:chOff x="5415884" y="5007622"/>
            <a:chExt cx="1648950" cy="353770"/>
          </a:xfrm>
        </p:grpSpPr>
        <p:sp>
          <p:nvSpPr>
            <p:cNvPr id="25" name="任意多边形 102">
              <a:extLst>
                <a:ext uri="{FF2B5EF4-FFF2-40B4-BE49-F238E27FC236}">
                  <a16:creationId xmlns:a16="http://schemas.microsoft.com/office/drawing/2014/main" id="{1D005B5B-E9EC-435A-E6C0-F11ADB1BE7A0}"/>
                </a:ext>
              </a:extLst>
            </p:cNvPr>
            <p:cNvSpPr/>
            <p:nvPr/>
          </p:nvSpPr>
          <p:spPr>
            <a:xfrm flipH="1">
              <a:off x="5521870" y="5063235"/>
              <a:ext cx="1542964" cy="298157"/>
            </a:xfrm>
            <a:custGeom>
              <a:avLst/>
              <a:gdLst>
                <a:gd name="connsiteX0" fmla="*/ 1054100 w 1054100"/>
                <a:gd name="connsiteY0" fmla="*/ 0 h 488950"/>
                <a:gd name="connsiteX1" fmla="*/ 0 w 1054100"/>
                <a:gd name="connsiteY1" fmla="*/ 0 h 488950"/>
                <a:gd name="connsiteX2" fmla="*/ 0 w 1054100"/>
                <a:gd name="connsiteY2" fmla="*/ 488950 h 48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488950">
                  <a:moveTo>
                    <a:pt x="1054100" y="0"/>
                  </a:moveTo>
                  <a:lnTo>
                    <a:pt x="0" y="0"/>
                  </a:lnTo>
                  <a:lnTo>
                    <a:pt x="0" y="488950"/>
                  </a:lnTo>
                </a:path>
              </a:pathLst>
            </a:custGeom>
            <a:noFill/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37478B1-CD10-DE47-C388-ABB90AC606B9}"/>
                </a:ext>
              </a:extLst>
            </p:cNvPr>
            <p:cNvSpPr/>
            <p:nvPr/>
          </p:nvSpPr>
          <p:spPr>
            <a:xfrm flipH="1">
              <a:off x="5415884" y="5007622"/>
              <a:ext cx="118316" cy="111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>
                <a:solidFill>
                  <a:prstClr val="white"/>
                </a:solidFill>
              </a:endParaRPr>
            </a:p>
          </p:txBody>
        </p:sp>
      </p:grpSp>
      <p:sp>
        <p:nvSpPr>
          <p:cNvPr id="13" name="标题 12">
            <a:extLst>
              <a:ext uri="{FF2B5EF4-FFF2-40B4-BE49-F238E27FC236}">
                <a16:creationId xmlns:a16="http://schemas.microsoft.com/office/drawing/2014/main" id="{F79228A5-C817-7132-742D-27560C9E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学完后的收获</a:t>
            </a:r>
          </a:p>
        </p:txBody>
      </p:sp>
    </p:spTree>
    <p:extLst>
      <p:ext uri="{BB962C8B-B14F-4D97-AF65-F5344CB8AC3E}">
        <p14:creationId xmlns:p14="http://schemas.microsoft.com/office/powerpoint/2010/main" val="2983602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977E4AD-B753-4B8E-8AB5-706C9D06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加强课的授课方式</a:t>
            </a:r>
            <a:endParaRPr lang="zh-CN" altLang="en-US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D143CAAF-A3A7-4517-A6DE-C3907BACA8BE}"/>
              </a:ext>
            </a:extLst>
          </p:cNvPr>
          <p:cNvSpPr txBox="1">
            <a:spLocks/>
          </p:cNvSpPr>
          <p:nvPr/>
        </p:nvSpPr>
        <p:spPr>
          <a:xfrm>
            <a:off x="576196" y="990190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整个加强课是一个空工程 </a:t>
            </a:r>
            <a:r>
              <a:rPr kumimoji="1"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Empty Project</a:t>
            </a:r>
            <a:r>
              <a:rPr kumimoji="1" lang="zh-CN" altLang="en-US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，每天的内容是一个独立的模块</a:t>
            </a:r>
            <a:r>
              <a:rPr kumimoji="1" lang="en-US" altLang="zh-CN" sz="16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Module</a:t>
            </a:r>
            <a:endParaRPr lang="zh-CN" altLang="en-US" sz="16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79C2CF-09A2-0457-2129-71007925E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96" y="1849526"/>
            <a:ext cx="3098303" cy="35508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2038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E1B823-E743-4E2E-BBEC-46E60CA01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438" y="4126183"/>
            <a:ext cx="606437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5400" dirty="0">
                <a:solidFill>
                  <a:srgbClr val="B7000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咱们继续</a:t>
            </a:r>
            <a:r>
              <a:rPr lang="zh-CN" altLang="en-US" sz="5400" b="1" dirty="0">
                <a:solidFill>
                  <a:srgbClr val="B7000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开干</a:t>
            </a:r>
            <a:r>
              <a:rPr lang="en-US" altLang="zh-CN" sz="5400" dirty="0">
                <a:solidFill>
                  <a:srgbClr val="B7000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……</a:t>
            </a:r>
            <a:endParaRPr lang="zh-CN" altLang="en-US" sz="5400" dirty="0">
              <a:solidFill>
                <a:srgbClr val="B70004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4B46DC8-FF93-4A92-B2B6-99A37B24F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106550" y="1177695"/>
            <a:ext cx="2484582" cy="2441048"/>
          </a:xfrm>
          <a:prstGeom prst="rect">
            <a:avLst/>
          </a:prstGeom>
        </p:spPr>
      </p:pic>
      <p:pic>
        <p:nvPicPr>
          <p:cNvPr id="2" name="图片 1" descr="卡通人物&#10;&#10;中度可信度描述已自动生成">
            <a:extLst>
              <a:ext uri="{FF2B5EF4-FFF2-40B4-BE49-F238E27FC236}">
                <a16:creationId xmlns:a16="http://schemas.microsoft.com/office/drawing/2014/main" id="{2FFAF467-BC1D-1D60-554E-9697B387C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77" y="3204393"/>
            <a:ext cx="1383455" cy="13834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F75247-3025-4C67-053C-306DA6A3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93064" y="2021758"/>
            <a:ext cx="1831673" cy="1799579"/>
          </a:xfrm>
          <a:prstGeom prst="rect">
            <a:avLst/>
          </a:prstGeom>
        </p:spPr>
      </p:pic>
      <p:pic>
        <p:nvPicPr>
          <p:cNvPr id="7" name="图片 6" descr="卡通人物&#10;&#10;中度可信度描述已自动生成">
            <a:extLst>
              <a:ext uri="{FF2B5EF4-FFF2-40B4-BE49-F238E27FC236}">
                <a16:creationId xmlns:a16="http://schemas.microsoft.com/office/drawing/2014/main" id="{D2A332B4-AAD5-93B7-10D4-1EF249AB1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076" y="643821"/>
            <a:ext cx="2785179" cy="27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73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25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5655</TotalTime>
  <Words>255</Words>
  <Application>Microsoft Office PowerPoint</Application>
  <PresentationFormat>宽屏</PresentationFormat>
  <Paragraphs>66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34" baseType="lpstr">
      <vt:lpstr>Alibaba PuHuiTi B</vt:lpstr>
      <vt:lpstr>Alibaba PuHuiTi Medium</vt:lpstr>
      <vt:lpstr>Alibaba PuHuiTi R</vt:lpstr>
      <vt:lpstr>Impact MT Std</vt:lpstr>
      <vt:lpstr>阿里巴巴普惠体</vt:lpstr>
      <vt:lpstr>阿里巴巴普惠体 Heavy</vt:lpstr>
      <vt:lpstr>阿里巴巴普惠体 Medium</vt:lpstr>
      <vt:lpstr>等线</vt:lpstr>
      <vt:lpstr>楷体</vt:lpstr>
      <vt:lpstr>时尚中黑简体</vt:lpstr>
      <vt:lpstr>宋体</vt:lpstr>
      <vt:lpstr>Microsoft YaHei</vt:lpstr>
      <vt:lpstr>Microsoft YaHei</vt:lpstr>
      <vt:lpstr>Arial</vt:lpstr>
      <vt:lpstr>Calisto MT</vt:lpstr>
      <vt:lpstr>Consolas</vt:lpstr>
      <vt:lpstr>Impact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JavaSE基础加强课程</vt:lpstr>
      <vt:lpstr>JavaSE基础加强课程介绍</vt:lpstr>
      <vt:lpstr>这阶段课程适合谁学习？</vt:lpstr>
      <vt:lpstr>JavaSE基础加强课程介绍</vt:lpstr>
      <vt:lpstr>JavaSE基础加强课程安排</vt:lpstr>
      <vt:lpstr>JavaSE基础加强课程介绍</vt:lpstr>
      <vt:lpstr>学完后的收获</vt:lpstr>
      <vt:lpstr>加强课的授课方式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l d</cp:lastModifiedBy>
  <cp:revision>1094</cp:revision>
  <cp:lastPrinted>2022-05-29T16:00:00Z</cp:lastPrinted>
  <dcterms:created xsi:type="dcterms:W3CDTF">2022-05-29T16:00:00Z</dcterms:created>
  <dcterms:modified xsi:type="dcterms:W3CDTF">2024-07-26T10:00:58Z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